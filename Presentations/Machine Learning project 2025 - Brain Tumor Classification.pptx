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Montserrat Semi-Bold" charset="1" panose="00000700000000000000"/>
      <p:regular r:id="rId15"/>
    </p:embeddedFont>
    <p:embeddedFont>
      <p:font typeface="Raleway Italics" charset="1" panose="00000000000000000000"/>
      <p:regular r:id="rId16"/>
    </p:embeddedFont>
    <p:embeddedFont>
      <p:font typeface="Montserrat Heavy" charset="1" panose="00000A00000000000000"/>
      <p:regular r:id="rId17"/>
    </p:embeddedFont>
    <p:embeddedFont>
      <p:font typeface="Raleway Bold Italics" charset="1" panose="00000000000000000000"/>
      <p:regular r:id="rId18"/>
    </p:embeddedFont>
    <p:embeddedFont>
      <p:font typeface="Montserrat Bold" charset="1" panose="00000800000000000000"/>
      <p:regular r:id="rId19"/>
    </p:embeddedFont>
    <p:embeddedFont>
      <p:font typeface="Montserrat" charset="1" panose="00000500000000000000"/>
      <p:regular r:id="rId20"/>
    </p:embeddedFont>
    <p:embeddedFont>
      <p:font typeface="Montserrat Bold Italics" charset="1" panose="00000800000000000000"/>
      <p:regular r:id="rId21"/>
    </p:embeddedFont>
    <p:embeddedFont>
      <p:font typeface="Montserrat Italics" charset="1" panose="0000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https://figshare.com/articles/brain_tumor_dataset/1512427" TargetMode="External" Type="http://schemas.openxmlformats.org/officeDocument/2006/relationships/hyperlink"/><Relationship Id="rId4" Target="https://www.kaggle.com/navoneel/brain-mri-images-for-brain-tumor-detection" TargetMode="External" Type="http://schemas.openxmlformats.org/officeDocument/2006/relationships/hyperlink"/><Relationship Id="rId5" Target="../media/image5.png" Type="http://schemas.openxmlformats.org/officeDocument/2006/relationships/image"/><Relationship Id="rId6"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9.jpeg" Type="http://schemas.openxmlformats.org/officeDocument/2006/relationships/image"/><Relationship Id="rId4" Target="../media/image10.jpeg" Type="http://schemas.openxmlformats.org/officeDocument/2006/relationships/image"/><Relationship Id="rId5" Target="../media/image11.png" Type="http://schemas.openxmlformats.org/officeDocument/2006/relationships/image"/><Relationship Id="rId6"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32A64">
                <a:alpha val="100000"/>
              </a:srgbClr>
            </a:gs>
            <a:gs pos="100000">
              <a:srgbClr val="414C94">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1756814" y="-403607"/>
            <a:ext cx="6531186" cy="11641778"/>
            <a:chOff x="0" y="0"/>
            <a:chExt cx="1720148" cy="3066147"/>
          </a:xfrm>
        </p:grpSpPr>
        <p:sp>
          <p:nvSpPr>
            <p:cNvPr name="Freeform 3" id="3"/>
            <p:cNvSpPr/>
            <p:nvPr/>
          </p:nvSpPr>
          <p:spPr>
            <a:xfrm flipH="false" flipV="false" rot="0">
              <a:off x="0" y="0"/>
              <a:ext cx="1720148" cy="3066147"/>
            </a:xfrm>
            <a:custGeom>
              <a:avLst/>
              <a:gdLst/>
              <a:ahLst/>
              <a:cxnLst/>
              <a:rect r="r" b="b" t="t" l="l"/>
              <a:pathLst>
                <a:path h="3066147" w="1720148">
                  <a:moveTo>
                    <a:pt x="0" y="0"/>
                  </a:moveTo>
                  <a:lnTo>
                    <a:pt x="1720148" y="0"/>
                  </a:lnTo>
                  <a:lnTo>
                    <a:pt x="1720148" y="3066147"/>
                  </a:lnTo>
                  <a:lnTo>
                    <a:pt x="0" y="3066147"/>
                  </a:lnTo>
                  <a:close/>
                </a:path>
              </a:pathLst>
            </a:custGeom>
            <a:gradFill rotWithShape="true">
              <a:gsLst>
                <a:gs pos="0">
                  <a:srgbClr val="000000">
                    <a:alpha val="0"/>
                  </a:srgbClr>
                </a:gs>
                <a:gs pos="100000">
                  <a:srgbClr val="000000">
                    <a:alpha val="100000"/>
                  </a:srgbClr>
                </a:gs>
              </a:gsLst>
              <a:lin ang="0"/>
            </a:gradFill>
          </p:spPr>
        </p:sp>
        <p:sp>
          <p:nvSpPr>
            <p:cNvPr name="TextBox 4" id="4"/>
            <p:cNvSpPr txBox="true"/>
            <p:nvPr/>
          </p:nvSpPr>
          <p:spPr>
            <a:xfrm>
              <a:off x="0" y="-38100"/>
              <a:ext cx="1720148" cy="3104247"/>
            </a:xfrm>
            <a:prstGeom prst="rect">
              <a:avLst/>
            </a:prstGeom>
          </p:spPr>
          <p:txBody>
            <a:bodyPr anchor="ctr" rtlCol="false" tIns="50800" lIns="50800" bIns="50800" rIns="50800"/>
            <a:lstStyle/>
            <a:p>
              <a:pPr algn="ctr">
                <a:lnSpc>
                  <a:spcPts val="2083"/>
                </a:lnSpc>
              </a:pPr>
            </a:p>
          </p:txBody>
        </p:sp>
      </p:grpSp>
      <p:sp>
        <p:nvSpPr>
          <p:cNvPr name="Freeform 5" id="5"/>
          <p:cNvSpPr/>
          <p:nvPr/>
        </p:nvSpPr>
        <p:spPr>
          <a:xfrm flipH="false" flipV="false" rot="674092">
            <a:off x="-3513169" y="8339629"/>
            <a:ext cx="19149891" cy="6989710"/>
          </a:xfrm>
          <a:custGeom>
            <a:avLst/>
            <a:gdLst/>
            <a:ahLst/>
            <a:cxnLst/>
            <a:rect r="r" b="b" t="t" l="l"/>
            <a:pathLst>
              <a:path h="6989710" w="19149891">
                <a:moveTo>
                  <a:pt x="0" y="0"/>
                </a:moveTo>
                <a:lnTo>
                  <a:pt x="19149891" y="0"/>
                </a:lnTo>
                <a:lnTo>
                  <a:pt x="19149891" y="6989710"/>
                </a:lnTo>
                <a:lnTo>
                  <a:pt x="0" y="6989710"/>
                </a:lnTo>
                <a:lnTo>
                  <a:pt x="0" y="0"/>
                </a:lnTo>
                <a:close/>
              </a:path>
            </a:pathLst>
          </a:custGeom>
          <a:blipFill>
            <a:blip r:embed="rId2">
              <a:alphaModFix amt="80000"/>
            </a:blip>
            <a:stretch>
              <a:fillRect l="0" t="0" r="0" b="0"/>
            </a:stretch>
          </a:blipFill>
        </p:spPr>
      </p:sp>
      <p:sp>
        <p:nvSpPr>
          <p:cNvPr name="Freeform 6" id="6"/>
          <p:cNvSpPr/>
          <p:nvPr/>
        </p:nvSpPr>
        <p:spPr>
          <a:xfrm flipH="true" flipV="true" rot="828919">
            <a:off x="1076036" y="-4819412"/>
            <a:ext cx="19149891" cy="6989710"/>
          </a:xfrm>
          <a:custGeom>
            <a:avLst/>
            <a:gdLst/>
            <a:ahLst/>
            <a:cxnLst/>
            <a:rect r="r" b="b" t="t" l="l"/>
            <a:pathLst>
              <a:path h="6989710" w="19149891">
                <a:moveTo>
                  <a:pt x="19149891" y="6989710"/>
                </a:moveTo>
                <a:lnTo>
                  <a:pt x="0" y="6989710"/>
                </a:lnTo>
                <a:lnTo>
                  <a:pt x="0" y="0"/>
                </a:lnTo>
                <a:lnTo>
                  <a:pt x="19149891" y="0"/>
                </a:lnTo>
                <a:lnTo>
                  <a:pt x="19149891" y="6989710"/>
                </a:lnTo>
                <a:close/>
              </a:path>
            </a:pathLst>
          </a:custGeom>
          <a:blipFill>
            <a:blip r:embed="rId2">
              <a:alphaModFix amt="43000"/>
            </a:blip>
            <a:stretch>
              <a:fillRect l="0" t="0" r="0" b="0"/>
            </a:stretch>
          </a:blipFill>
        </p:spPr>
      </p:sp>
      <p:sp>
        <p:nvSpPr>
          <p:cNvPr name="TextBox 7" id="7"/>
          <p:cNvSpPr txBox="true"/>
          <p:nvPr/>
        </p:nvSpPr>
        <p:spPr>
          <a:xfrm rot="0">
            <a:off x="2076543" y="2896095"/>
            <a:ext cx="10268785" cy="2761064"/>
          </a:xfrm>
          <a:prstGeom prst="rect">
            <a:avLst/>
          </a:prstGeom>
        </p:spPr>
        <p:txBody>
          <a:bodyPr anchor="t" rtlCol="false" tIns="0" lIns="0" bIns="0" rIns="0">
            <a:spAutoFit/>
          </a:bodyPr>
          <a:lstStyle/>
          <a:p>
            <a:pPr algn="l">
              <a:lnSpc>
                <a:spcPts val="10509"/>
              </a:lnSpc>
            </a:pPr>
            <a:r>
              <a:rPr lang="en-US" sz="11062" b="true">
                <a:solidFill>
                  <a:srgbClr val="FFFFFF"/>
                </a:solidFill>
                <a:latin typeface="Montserrat Semi-Bold"/>
                <a:ea typeface="Montserrat Semi-Bold"/>
                <a:cs typeface="Montserrat Semi-Bold"/>
                <a:sym typeface="Montserrat Semi-Bold"/>
              </a:rPr>
              <a:t>Machine Learning</a:t>
            </a:r>
          </a:p>
        </p:txBody>
      </p:sp>
      <p:sp>
        <p:nvSpPr>
          <p:cNvPr name="TextBox 8" id="8"/>
          <p:cNvSpPr txBox="true"/>
          <p:nvPr/>
        </p:nvSpPr>
        <p:spPr>
          <a:xfrm rot="0">
            <a:off x="2076543" y="7164802"/>
            <a:ext cx="9680270" cy="483279"/>
          </a:xfrm>
          <a:prstGeom prst="rect">
            <a:avLst/>
          </a:prstGeom>
        </p:spPr>
        <p:txBody>
          <a:bodyPr anchor="t" rtlCol="false" tIns="0" lIns="0" bIns="0" rIns="0">
            <a:spAutoFit/>
          </a:bodyPr>
          <a:lstStyle/>
          <a:p>
            <a:pPr algn="l">
              <a:lnSpc>
                <a:spcPts val="3497"/>
              </a:lnSpc>
            </a:pPr>
            <a:r>
              <a:rPr lang="en-US" sz="3682" i="true">
                <a:solidFill>
                  <a:srgbClr val="FFFFFF"/>
                </a:solidFill>
                <a:latin typeface="Raleway Italics"/>
                <a:ea typeface="Raleway Italics"/>
                <a:cs typeface="Raleway Italics"/>
                <a:sym typeface="Raleway Italics"/>
              </a:rPr>
              <a:t>A Deep Learning &amp; Computer Vision Approach</a:t>
            </a:r>
          </a:p>
        </p:txBody>
      </p:sp>
      <p:sp>
        <p:nvSpPr>
          <p:cNvPr name="TextBox 9" id="9"/>
          <p:cNvSpPr txBox="true"/>
          <p:nvPr/>
        </p:nvSpPr>
        <p:spPr>
          <a:xfrm rot="0">
            <a:off x="2076543" y="5838134"/>
            <a:ext cx="15026528" cy="997164"/>
          </a:xfrm>
          <a:prstGeom prst="rect">
            <a:avLst/>
          </a:prstGeom>
        </p:spPr>
        <p:txBody>
          <a:bodyPr anchor="t" rtlCol="false" tIns="0" lIns="0" bIns="0" rIns="0">
            <a:spAutoFit/>
          </a:bodyPr>
          <a:lstStyle/>
          <a:p>
            <a:pPr algn="l">
              <a:lnSpc>
                <a:spcPts val="7349"/>
              </a:lnSpc>
            </a:pPr>
            <a:r>
              <a:rPr lang="en-US" sz="7736" b="true">
                <a:solidFill>
                  <a:srgbClr val="36E9FD"/>
                </a:solidFill>
                <a:latin typeface="Montserrat Heavy"/>
                <a:ea typeface="Montserrat Heavy"/>
                <a:cs typeface="Montserrat Heavy"/>
                <a:sym typeface="Montserrat Heavy"/>
              </a:rPr>
              <a:t>Brain Tumor Classification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32A64">
                <a:alpha val="100000"/>
              </a:srgbClr>
            </a:gs>
            <a:gs pos="100000">
              <a:srgbClr val="414C94">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1572293">
            <a:off x="-5799371" y="6668368"/>
            <a:ext cx="19149891" cy="6989710"/>
          </a:xfrm>
          <a:custGeom>
            <a:avLst/>
            <a:gdLst/>
            <a:ahLst/>
            <a:cxnLst/>
            <a:rect r="r" b="b" t="t" l="l"/>
            <a:pathLst>
              <a:path h="6989710" w="19149891">
                <a:moveTo>
                  <a:pt x="0" y="0"/>
                </a:moveTo>
                <a:lnTo>
                  <a:pt x="19149891" y="0"/>
                </a:lnTo>
                <a:lnTo>
                  <a:pt x="19149891" y="6989710"/>
                </a:lnTo>
                <a:lnTo>
                  <a:pt x="0" y="6989710"/>
                </a:lnTo>
                <a:lnTo>
                  <a:pt x="0" y="0"/>
                </a:lnTo>
                <a:close/>
              </a:path>
            </a:pathLst>
          </a:custGeom>
          <a:blipFill>
            <a:blip r:embed="rId2">
              <a:alphaModFix amt="80000"/>
            </a:blip>
            <a:stretch>
              <a:fillRect l="0" t="0" r="0" b="0"/>
            </a:stretch>
          </a:blipFill>
        </p:spPr>
      </p:sp>
      <p:sp>
        <p:nvSpPr>
          <p:cNvPr name="Freeform 3" id="3"/>
          <p:cNvSpPr/>
          <p:nvPr/>
        </p:nvSpPr>
        <p:spPr>
          <a:xfrm flipH="false" flipV="true" rot="1572293">
            <a:off x="8920761" y="-3494855"/>
            <a:ext cx="19149891" cy="6989710"/>
          </a:xfrm>
          <a:custGeom>
            <a:avLst/>
            <a:gdLst/>
            <a:ahLst/>
            <a:cxnLst/>
            <a:rect r="r" b="b" t="t" l="l"/>
            <a:pathLst>
              <a:path h="6989710" w="19149891">
                <a:moveTo>
                  <a:pt x="0" y="6989710"/>
                </a:moveTo>
                <a:lnTo>
                  <a:pt x="19149891" y="6989710"/>
                </a:lnTo>
                <a:lnTo>
                  <a:pt x="19149891" y="0"/>
                </a:lnTo>
                <a:lnTo>
                  <a:pt x="0" y="0"/>
                </a:lnTo>
                <a:lnTo>
                  <a:pt x="0" y="6989710"/>
                </a:lnTo>
                <a:close/>
              </a:path>
            </a:pathLst>
          </a:custGeom>
          <a:blipFill>
            <a:blip r:embed="rId2">
              <a:alphaModFix amt="80000"/>
            </a:blip>
            <a:stretch>
              <a:fillRect l="0" t="0" r="0" b="0"/>
            </a:stretch>
          </a:blipFill>
        </p:spPr>
      </p:sp>
      <p:sp>
        <p:nvSpPr>
          <p:cNvPr name="TextBox 4" id="4"/>
          <p:cNvSpPr txBox="true"/>
          <p:nvPr/>
        </p:nvSpPr>
        <p:spPr>
          <a:xfrm rot="0">
            <a:off x="2375400" y="1423341"/>
            <a:ext cx="10272824" cy="1105450"/>
          </a:xfrm>
          <a:prstGeom prst="rect">
            <a:avLst/>
          </a:prstGeom>
        </p:spPr>
        <p:txBody>
          <a:bodyPr anchor="t" rtlCol="false" tIns="0" lIns="0" bIns="0" rIns="0">
            <a:spAutoFit/>
          </a:bodyPr>
          <a:lstStyle/>
          <a:p>
            <a:pPr algn="l">
              <a:lnSpc>
                <a:spcPts val="8143"/>
              </a:lnSpc>
            </a:pPr>
            <a:r>
              <a:rPr lang="en-US" sz="8572" b="true">
                <a:solidFill>
                  <a:srgbClr val="FFFFFF"/>
                </a:solidFill>
                <a:latin typeface="Montserrat Semi-Bold"/>
                <a:ea typeface="Montserrat Semi-Bold"/>
                <a:cs typeface="Montserrat Semi-Bold"/>
                <a:sym typeface="Montserrat Semi-Bold"/>
              </a:rPr>
              <a:t>Team Members</a:t>
            </a:r>
          </a:p>
        </p:txBody>
      </p:sp>
      <p:sp>
        <p:nvSpPr>
          <p:cNvPr name="TextBox 5" id="5"/>
          <p:cNvSpPr txBox="true"/>
          <p:nvPr/>
        </p:nvSpPr>
        <p:spPr>
          <a:xfrm rot="0">
            <a:off x="2375400" y="2896757"/>
            <a:ext cx="12182513" cy="5534580"/>
          </a:xfrm>
          <a:prstGeom prst="rect">
            <a:avLst/>
          </a:prstGeom>
        </p:spPr>
        <p:txBody>
          <a:bodyPr anchor="t" rtlCol="false" tIns="0" lIns="0" bIns="0" rIns="0">
            <a:spAutoFit/>
          </a:bodyPr>
          <a:lstStyle/>
          <a:p>
            <a:pPr algn="l" marL="771532" indent="-385766" lvl="1">
              <a:lnSpc>
                <a:spcPts val="8933"/>
              </a:lnSpc>
              <a:buFont typeface="Arial"/>
              <a:buChar char="•"/>
            </a:pPr>
            <a:r>
              <a:rPr lang="en-US" b="true" sz="3573" i="true">
                <a:solidFill>
                  <a:srgbClr val="FFFFFF"/>
                </a:solidFill>
                <a:latin typeface="Raleway Bold Italics"/>
                <a:ea typeface="Raleway Bold Italics"/>
                <a:cs typeface="Raleway Bold Italics"/>
                <a:sym typeface="Raleway Bold Italics"/>
              </a:rPr>
              <a:t>Mostafa Hesham ( 23-02662 )</a:t>
            </a:r>
          </a:p>
          <a:p>
            <a:pPr algn="l" marL="771532" indent="-385766" lvl="1">
              <a:lnSpc>
                <a:spcPts val="8933"/>
              </a:lnSpc>
              <a:buFont typeface="Arial"/>
              <a:buChar char="•"/>
            </a:pPr>
            <a:r>
              <a:rPr lang="en-US" b="true" sz="3573" i="true">
                <a:solidFill>
                  <a:srgbClr val="FFFFFF"/>
                </a:solidFill>
                <a:latin typeface="Raleway Bold Italics"/>
                <a:ea typeface="Raleway Bold Italics"/>
                <a:cs typeface="Raleway Bold Italics"/>
                <a:sym typeface="Raleway Bold Italics"/>
              </a:rPr>
              <a:t>Ziad Mahmoud ( 23-01352 )</a:t>
            </a:r>
          </a:p>
          <a:p>
            <a:pPr algn="l" marL="771532" indent="-385766" lvl="1">
              <a:lnSpc>
                <a:spcPts val="8933"/>
              </a:lnSpc>
              <a:buFont typeface="Arial"/>
              <a:buChar char="•"/>
            </a:pPr>
            <a:r>
              <a:rPr lang="en-US" b="true" sz="3573" i="true">
                <a:solidFill>
                  <a:srgbClr val="FFFFFF"/>
                </a:solidFill>
                <a:latin typeface="Raleway Bold Italics"/>
                <a:ea typeface="Raleway Bold Italics"/>
                <a:cs typeface="Raleway Bold Italics"/>
                <a:sym typeface="Raleway Bold Italics"/>
              </a:rPr>
              <a:t>Omar Khaled Mohamed Sobaih ( 21-02159 )</a:t>
            </a:r>
          </a:p>
          <a:p>
            <a:pPr algn="l" marL="771532" indent="-385766" lvl="1">
              <a:lnSpc>
                <a:spcPts val="8933"/>
              </a:lnSpc>
              <a:buFont typeface="Arial"/>
              <a:buChar char="•"/>
            </a:pPr>
            <a:r>
              <a:rPr lang="en-US" b="true" sz="3573" i="true">
                <a:solidFill>
                  <a:srgbClr val="FFFFFF"/>
                </a:solidFill>
                <a:latin typeface="Raleway Bold Italics"/>
                <a:ea typeface="Raleway Bold Italics"/>
                <a:cs typeface="Raleway Bold Italics"/>
                <a:sym typeface="Raleway Bold Italics"/>
              </a:rPr>
              <a:t>Mohamed Amr ( 23-02199 )</a:t>
            </a:r>
          </a:p>
          <a:p>
            <a:pPr algn="l" marL="771532" indent="-385766" lvl="1">
              <a:lnSpc>
                <a:spcPts val="8933"/>
              </a:lnSpc>
              <a:buFont typeface="Arial"/>
              <a:buChar char="•"/>
            </a:pPr>
            <a:r>
              <a:rPr lang="en-US" b="true" sz="3573" i="true">
                <a:solidFill>
                  <a:srgbClr val="FFFFFF"/>
                </a:solidFill>
                <a:latin typeface="Raleway Bold Italics"/>
                <a:ea typeface="Raleway Bold Italics"/>
                <a:cs typeface="Raleway Bold Italics"/>
                <a:sym typeface="Raleway Bold Italics"/>
              </a:rPr>
              <a:t>Yussuf Ahmed Sameh Zakarya ( 23-01858 )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61B70">
                <a:alpha val="100000"/>
              </a:srgbClr>
            </a:gs>
            <a:gs pos="100000">
              <a:srgbClr val="000000">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1314761">
            <a:off x="5680419" y="6404287"/>
            <a:ext cx="19149891" cy="6989710"/>
          </a:xfrm>
          <a:custGeom>
            <a:avLst/>
            <a:gdLst/>
            <a:ahLst/>
            <a:cxnLst/>
            <a:rect r="r" b="b" t="t" l="l"/>
            <a:pathLst>
              <a:path h="6989710" w="19149891">
                <a:moveTo>
                  <a:pt x="0" y="0"/>
                </a:moveTo>
                <a:lnTo>
                  <a:pt x="19149891" y="0"/>
                </a:lnTo>
                <a:lnTo>
                  <a:pt x="19149891" y="6989711"/>
                </a:lnTo>
                <a:lnTo>
                  <a:pt x="0" y="6989711"/>
                </a:lnTo>
                <a:lnTo>
                  <a:pt x="0" y="0"/>
                </a:lnTo>
                <a:close/>
              </a:path>
            </a:pathLst>
          </a:custGeom>
          <a:blipFill>
            <a:blip r:embed="rId2">
              <a:alphaModFix amt="80000"/>
            </a:blip>
            <a:stretch>
              <a:fillRect l="0" t="0" r="0" b="0"/>
            </a:stretch>
          </a:blipFill>
        </p:spPr>
      </p:sp>
      <p:sp>
        <p:nvSpPr>
          <p:cNvPr name="Freeform 3" id="3"/>
          <p:cNvSpPr/>
          <p:nvPr/>
        </p:nvSpPr>
        <p:spPr>
          <a:xfrm flipH="false" flipV="true" rot="1572293">
            <a:off x="3960635" y="-5525403"/>
            <a:ext cx="19149891" cy="6989710"/>
          </a:xfrm>
          <a:custGeom>
            <a:avLst/>
            <a:gdLst/>
            <a:ahLst/>
            <a:cxnLst/>
            <a:rect r="r" b="b" t="t" l="l"/>
            <a:pathLst>
              <a:path h="6989710" w="19149891">
                <a:moveTo>
                  <a:pt x="0" y="6989711"/>
                </a:moveTo>
                <a:lnTo>
                  <a:pt x="19149891" y="6989711"/>
                </a:lnTo>
                <a:lnTo>
                  <a:pt x="19149891" y="0"/>
                </a:lnTo>
                <a:lnTo>
                  <a:pt x="0" y="0"/>
                </a:lnTo>
                <a:lnTo>
                  <a:pt x="0" y="6989711"/>
                </a:lnTo>
                <a:close/>
              </a:path>
            </a:pathLst>
          </a:custGeom>
          <a:blipFill>
            <a:blip r:embed="rId2">
              <a:alphaModFix amt="80000"/>
            </a:blip>
            <a:stretch>
              <a:fillRect l="0" t="0" r="0" b="0"/>
            </a:stretch>
          </a:blipFill>
        </p:spPr>
      </p:sp>
      <p:grpSp>
        <p:nvGrpSpPr>
          <p:cNvPr name="Group 4" id="4"/>
          <p:cNvGrpSpPr>
            <a:grpSpLocks noChangeAspect="true"/>
          </p:cNvGrpSpPr>
          <p:nvPr/>
        </p:nvGrpSpPr>
        <p:grpSpPr>
          <a:xfrm rot="0">
            <a:off x="3401475" y="6595642"/>
            <a:ext cx="2797859" cy="2797859"/>
            <a:chOff x="0" y="0"/>
            <a:chExt cx="14840029" cy="14840029"/>
          </a:xfrm>
        </p:grpSpPr>
        <p:sp>
          <p:nvSpPr>
            <p:cNvPr name="Freeform 5" id="5"/>
            <p:cNvSpPr/>
            <p:nvPr/>
          </p:nvSpPr>
          <p:spPr>
            <a:xfrm flipH="false" flipV="false" rot="0">
              <a:off x="-366471" y="-11891"/>
              <a:ext cx="15572971" cy="14863810"/>
            </a:xfrm>
            <a:custGeom>
              <a:avLst/>
              <a:gdLst/>
              <a:ahLst/>
              <a:cxnLst/>
              <a:rect r="r" b="b" t="t" l="l"/>
              <a:pathLst>
                <a:path h="14863810" w="15572971">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solidFill>
              <a:srgbClr val="36E9FD"/>
            </a:solidFill>
          </p:spPr>
        </p:sp>
        <p:sp>
          <p:nvSpPr>
            <p:cNvPr name="Freeform 6" id="6"/>
            <p:cNvSpPr/>
            <p:nvPr/>
          </p:nvSpPr>
          <p:spPr>
            <a:xfrm flipH="false" flipV="false" rot="0">
              <a:off x="-156193" y="188812"/>
              <a:ext cx="15152415" cy="14462405"/>
            </a:xfrm>
            <a:custGeom>
              <a:avLst/>
              <a:gdLst/>
              <a:ahLst/>
              <a:cxnLst/>
              <a:rect r="r" b="b" t="t" l="l"/>
              <a:pathLst>
                <a:path h="14462405" w="1515241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FFFFFF"/>
            </a:solidFill>
          </p:spPr>
        </p:sp>
        <p:sp>
          <p:nvSpPr>
            <p:cNvPr name="Freeform 7" id="7"/>
            <p:cNvSpPr/>
            <p:nvPr/>
          </p:nvSpPr>
          <p:spPr>
            <a:xfrm flipH="false" flipV="false" rot="0">
              <a:off x="223301" y="551024"/>
              <a:ext cx="14393427" cy="13737979"/>
            </a:xfrm>
            <a:custGeom>
              <a:avLst/>
              <a:gdLst/>
              <a:ahLst/>
              <a:cxnLst/>
              <a:rect r="r" b="b" t="t" l="l"/>
              <a:pathLst>
                <a:path h="13737979" w="14393427">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3"/>
              <a:stretch>
                <a:fillRect l="223" t="-7163" r="-93186" b="-7163"/>
              </a:stretch>
            </a:blipFill>
          </p:spPr>
        </p:sp>
      </p:grpSp>
      <p:grpSp>
        <p:nvGrpSpPr>
          <p:cNvPr name="Group 8" id="8"/>
          <p:cNvGrpSpPr>
            <a:grpSpLocks noChangeAspect="true"/>
          </p:cNvGrpSpPr>
          <p:nvPr/>
        </p:nvGrpSpPr>
        <p:grpSpPr>
          <a:xfrm rot="0">
            <a:off x="7745070" y="6595642"/>
            <a:ext cx="2797859" cy="2797859"/>
            <a:chOff x="0" y="0"/>
            <a:chExt cx="14840029" cy="14840029"/>
          </a:xfrm>
        </p:grpSpPr>
        <p:sp>
          <p:nvSpPr>
            <p:cNvPr name="Freeform 9" id="9"/>
            <p:cNvSpPr/>
            <p:nvPr/>
          </p:nvSpPr>
          <p:spPr>
            <a:xfrm flipH="false" flipV="false" rot="0">
              <a:off x="-366471" y="-11891"/>
              <a:ext cx="15572971" cy="14863810"/>
            </a:xfrm>
            <a:custGeom>
              <a:avLst/>
              <a:gdLst/>
              <a:ahLst/>
              <a:cxnLst/>
              <a:rect r="r" b="b" t="t" l="l"/>
              <a:pathLst>
                <a:path h="14863810" w="15572971">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solidFill>
              <a:srgbClr val="36E9FD"/>
            </a:solidFill>
          </p:spPr>
        </p:sp>
        <p:sp>
          <p:nvSpPr>
            <p:cNvPr name="Freeform 10" id="10"/>
            <p:cNvSpPr/>
            <p:nvPr/>
          </p:nvSpPr>
          <p:spPr>
            <a:xfrm flipH="false" flipV="false" rot="0">
              <a:off x="-156193" y="188812"/>
              <a:ext cx="15152415" cy="14462405"/>
            </a:xfrm>
            <a:custGeom>
              <a:avLst/>
              <a:gdLst/>
              <a:ahLst/>
              <a:cxnLst/>
              <a:rect r="r" b="b" t="t" l="l"/>
              <a:pathLst>
                <a:path h="14462405" w="1515241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FFFFFF"/>
            </a:solidFill>
          </p:spPr>
        </p:sp>
        <p:sp>
          <p:nvSpPr>
            <p:cNvPr name="Freeform 11" id="11"/>
            <p:cNvSpPr/>
            <p:nvPr/>
          </p:nvSpPr>
          <p:spPr>
            <a:xfrm flipH="false" flipV="false" rot="0">
              <a:off x="223301" y="551024"/>
              <a:ext cx="14393427" cy="13737979"/>
            </a:xfrm>
            <a:custGeom>
              <a:avLst/>
              <a:gdLst/>
              <a:ahLst/>
              <a:cxnLst/>
              <a:rect r="r" b="b" t="t" l="l"/>
              <a:pathLst>
                <a:path h="13737979" w="14393427">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4"/>
              <a:stretch>
                <a:fillRect l="-171506" t="-13582" r="223" b="-13582"/>
              </a:stretch>
            </a:blipFill>
          </p:spPr>
        </p:sp>
      </p:grpSp>
      <p:grpSp>
        <p:nvGrpSpPr>
          <p:cNvPr name="Group 12" id="12"/>
          <p:cNvGrpSpPr>
            <a:grpSpLocks noChangeAspect="true"/>
          </p:cNvGrpSpPr>
          <p:nvPr/>
        </p:nvGrpSpPr>
        <p:grpSpPr>
          <a:xfrm rot="0">
            <a:off x="12136651" y="6595642"/>
            <a:ext cx="2797859" cy="2797859"/>
            <a:chOff x="0" y="0"/>
            <a:chExt cx="14840029" cy="14840029"/>
          </a:xfrm>
        </p:grpSpPr>
        <p:sp>
          <p:nvSpPr>
            <p:cNvPr name="Freeform 13" id="13"/>
            <p:cNvSpPr/>
            <p:nvPr/>
          </p:nvSpPr>
          <p:spPr>
            <a:xfrm flipH="false" flipV="false" rot="0">
              <a:off x="-366471" y="-11891"/>
              <a:ext cx="15572971" cy="14863810"/>
            </a:xfrm>
            <a:custGeom>
              <a:avLst/>
              <a:gdLst/>
              <a:ahLst/>
              <a:cxnLst/>
              <a:rect r="r" b="b" t="t" l="l"/>
              <a:pathLst>
                <a:path h="14863810" w="15572971">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solidFill>
              <a:srgbClr val="36E9FD"/>
            </a:solidFill>
          </p:spPr>
        </p:sp>
        <p:sp>
          <p:nvSpPr>
            <p:cNvPr name="Freeform 14" id="14"/>
            <p:cNvSpPr/>
            <p:nvPr/>
          </p:nvSpPr>
          <p:spPr>
            <a:xfrm flipH="false" flipV="false" rot="0">
              <a:off x="-156193" y="188812"/>
              <a:ext cx="15152415" cy="14462405"/>
            </a:xfrm>
            <a:custGeom>
              <a:avLst/>
              <a:gdLst/>
              <a:ahLst/>
              <a:cxnLst/>
              <a:rect r="r" b="b" t="t" l="l"/>
              <a:pathLst>
                <a:path h="14462405" w="1515241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FFFFFF"/>
            </a:solidFill>
          </p:spPr>
        </p:sp>
        <p:sp>
          <p:nvSpPr>
            <p:cNvPr name="Freeform 15" id="15"/>
            <p:cNvSpPr/>
            <p:nvPr/>
          </p:nvSpPr>
          <p:spPr>
            <a:xfrm flipH="false" flipV="false" rot="0">
              <a:off x="223301" y="551024"/>
              <a:ext cx="14393427" cy="13737979"/>
            </a:xfrm>
            <a:custGeom>
              <a:avLst/>
              <a:gdLst/>
              <a:ahLst/>
              <a:cxnLst/>
              <a:rect r="r" b="b" t="t" l="l"/>
              <a:pathLst>
                <a:path h="13737979" w="14393427">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5"/>
              <a:stretch>
                <a:fillRect l="-96841" t="0" r="-7044" b="0"/>
              </a:stretch>
            </a:blipFill>
          </p:spPr>
        </p:sp>
      </p:grpSp>
      <p:sp>
        <p:nvSpPr>
          <p:cNvPr name="TextBox 16" id="16"/>
          <p:cNvSpPr txBox="true"/>
          <p:nvPr/>
        </p:nvSpPr>
        <p:spPr>
          <a:xfrm rot="0">
            <a:off x="4161325" y="1666221"/>
            <a:ext cx="9965350" cy="1100845"/>
          </a:xfrm>
          <a:prstGeom prst="rect">
            <a:avLst/>
          </a:prstGeom>
        </p:spPr>
        <p:txBody>
          <a:bodyPr anchor="t" rtlCol="false" tIns="0" lIns="0" bIns="0" rIns="0">
            <a:spAutoFit/>
          </a:bodyPr>
          <a:lstStyle/>
          <a:p>
            <a:pPr algn="ctr">
              <a:lnSpc>
                <a:spcPts val="8143"/>
              </a:lnSpc>
            </a:pPr>
            <a:r>
              <a:rPr lang="en-US" sz="8572" b="true">
                <a:solidFill>
                  <a:srgbClr val="36E9FD"/>
                </a:solidFill>
                <a:latin typeface="Montserrat Semi-Bold"/>
                <a:ea typeface="Montserrat Semi-Bold"/>
                <a:cs typeface="Montserrat Semi-Bold"/>
                <a:sym typeface="Montserrat Semi-Bold"/>
              </a:rPr>
              <a:t>Introduction</a:t>
            </a:r>
          </a:p>
        </p:txBody>
      </p:sp>
      <p:sp>
        <p:nvSpPr>
          <p:cNvPr name="TextBox 17" id="17"/>
          <p:cNvSpPr txBox="true"/>
          <p:nvPr/>
        </p:nvSpPr>
        <p:spPr>
          <a:xfrm rot="0">
            <a:off x="3336709" y="4081883"/>
            <a:ext cx="12506077" cy="2513759"/>
          </a:xfrm>
          <a:prstGeom prst="rect">
            <a:avLst/>
          </a:prstGeom>
        </p:spPr>
        <p:txBody>
          <a:bodyPr anchor="t" rtlCol="false" tIns="0" lIns="0" bIns="0" rIns="0">
            <a:spAutoFit/>
          </a:bodyPr>
          <a:lstStyle/>
          <a:p>
            <a:pPr algn="ctr">
              <a:lnSpc>
                <a:spcPts val="3319"/>
              </a:lnSpc>
            </a:pPr>
            <a:r>
              <a:rPr lang="en-US" sz="2573" i="true">
                <a:solidFill>
                  <a:srgbClr val="FFFFFF"/>
                </a:solidFill>
                <a:latin typeface="Raleway Italics"/>
                <a:ea typeface="Raleway Italics"/>
                <a:cs typeface="Raleway Italics"/>
                <a:sym typeface="Raleway Italics"/>
              </a:rPr>
              <a:t>A brain tumor is a collection, or mass, of abnormal cells in your brain. Your skull, which encloses your brain, is very rigid. Any growth inside such a restricted space can cause problems. Brain tumors can be cancerous (malignant) or noncancerous (benign). When benign or malignant tumors grow, they can cause the pressure inside your skull to increase. This can cause brain damage, and it can be life-threatening.</a:t>
            </a:r>
          </a:p>
          <a:p>
            <a:pPr algn="ctr">
              <a:lnSpc>
                <a:spcPts val="3319"/>
              </a:lnSpc>
            </a:pPr>
          </a:p>
        </p:txBody>
      </p:sp>
      <p:sp>
        <p:nvSpPr>
          <p:cNvPr name="TextBox 18" id="18"/>
          <p:cNvSpPr txBox="true"/>
          <p:nvPr/>
        </p:nvSpPr>
        <p:spPr>
          <a:xfrm rot="0">
            <a:off x="4305154" y="2898170"/>
            <a:ext cx="9965350" cy="456331"/>
          </a:xfrm>
          <a:prstGeom prst="rect">
            <a:avLst/>
          </a:prstGeom>
        </p:spPr>
        <p:txBody>
          <a:bodyPr anchor="t" rtlCol="false" tIns="0" lIns="0" bIns="0" rIns="0">
            <a:spAutoFit/>
          </a:bodyPr>
          <a:lstStyle/>
          <a:p>
            <a:pPr algn="ctr">
              <a:lnSpc>
                <a:spcPts val="3393"/>
              </a:lnSpc>
            </a:pPr>
            <a:r>
              <a:rPr lang="en-US" sz="3572" b="true">
                <a:solidFill>
                  <a:srgbClr val="C0E2ED"/>
                </a:solidFill>
                <a:latin typeface="Montserrat Semi-Bold"/>
                <a:ea typeface="Montserrat Semi-Bold"/>
                <a:cs typeface="Montserrat Semi-Bold"/>
                <a:sym typeface="Montserrat Semi-Bold"/>
              </a:rPr>
              <a:t>What is a brain tumor?</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32A64">
                <a:alpha val="100000"/>
              </a:srgbClr>
            </a:gs>
            <a:gs pos="100000">
              <a:srgbClr val="414C94">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1314761">
            <a:off x="5680419" y="6404287"/>
            <a:ext cx="19149891" cy="6989710"/>
          </a:xfrm>
          <a:custGeom>
            <a:avLst/>
            <a:gdLst/>
            <a:ahLst/>
            <a:cxnLst/>
            <a:rect r="r" b="b" t="t" l="l"/>
            <a:pathLst>
              <a:path h="6989710" w="19149891">
                <a:moveTo>
                  <a:pt x="0" y="0"/>
                </a:moveTo>
                <a:lnTo>
                  <a:pt x="19149891" y="0"/>
                </a:lnTo>
                <a:lnTo>
                  <a:pt x="19149891" y="6989711"/>
                </a:lnTo>
                <a:lnTo>
                  <a:pt x="0" y="6989711"/>
                </a:lnTo>
                <a:lnTo>
                  <a:pt x="0" y="0"/>
                </a:lnTo>
                <a:close/>
              </a:path>
            </a:pathLst>
          </a:custGeom>
          <a:blipFill>
            <a:blip r:embed="rId2">
              <a:alphaModFix amt="80000"/>
            </a:blip>
            <a:stretch>
              <a:fillRect l="0" t="0" r="0" b="0"/>
            </a:stretch>
          </a:blipFill>
        </p:spPr>
      </p:sp>
      <p:sp>
        <p:nvSpPr>
          <p:cNvPr name="Freeform 3" id="3"/>
          <p:cNvSpPr/>
          <p:nvPr/>
        </p:nvSpPr>
        <p:spPr>
          <a:xfrm flipH="false" flipV="true" rot="1572293">
            <a:off x="3960635" y="-5525403"/>
            <a:ext cx="19149891" cy="6989710"/>
          </a:xfrm>
          <a:custGeom>
            <a:avLst/>
            <a:gdLst/>
            <a:ahLst/>
            <a:cxnLst/>
            <a:rect r="r" b="b" t="t" l="l"/>
            <a:pathLst>
              <a:path h="6989710" w="19149891">
                <a:moveTo>
                  <a:pt x="0" y="6989711"/>
                </a:moveTo>
                <a:lnTo>
                  <a:pt x="19149891" y="6989711"/>
                </a:lnTo>
                <a:lnTo>
                  <a:pt x="19149891" y="0"/>
                </a:lnTo>
                <a:lnTo>
                  <a:pt x="0" y="0"/>
                </a:lnTo>
                <a:lnTo>
                  <a:pt x="0" y="6989711"/>
                </a:lnTo>
                <a:close/>
              </a:path>
            </a:pathLst>
          </a:custGeom>
          <a:blipFill>
            <a:blip r:embed="rId2">
              <a:alphaModFix amt="80000"/>
            </a:blip>
            <a:stretch>
              <a:fillRect l="0" t="0" r="0" b="0"/>
            </a:stretch>
          </a:blipFill>
        </p:spPr>
      </p:sp>
      <p:sp>
        <p:nvSpPr>
          <p:cNvPr name="Freeform 4" id="4"/>
          <p:cNvSpPr/>
          <p:nvPr/>
        </p:nvSpPr>
        <p:spPr>
          <a:xfrm flipH="false" flipV="false" rot="0">
            <a:off x="15255365" y="661816"/>
            <a:ext cx="1785236" cy="1785236"/>
          </a:xfrm>
          <a:custGeom>
            <a:avLst/>
            <a:gdLst/>
            <a:ahLst/>
            <a:cxnLst/>
            <a:rect r="r" b="b" t="t" l="l"/>
            <a:pathLst>
              <a:path h="1785236" w="1785236">
                <a:moveTo>
                  <a:pt x="0" y="0"/>
                </a:moveTo>
                <a:lnTo>
                  <a:pt x="1785235" y="0"/>
                </a:lnTo>
                <a:lnTo>
                  <a:pt x="1785235" y="1785236"/>
                </a:lnTo>
                <a:lnTo>
                  <a:pt x="0" y="17852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2128052" y="4413087"/>
            <a:ext cx="14031895" cy="4845213"/>
          </a:xfrm>
          <a:custGeom>
            <a:avLst/>
            <a:gdLst/>
            <a:ahLst/>
            <a:cxnLst/>
            <a:rect r="r" b="b" t="t" l="l"/>
            <a:pathLst>
              <a:path h="4845213" w="14031895">
                <a:moveTo>
                  <a:pt x="0" y="0"/>
                </a:moveTo>
                <a:lnTo>
                  <a:pt x="14031896" y="0"/>
                </a:lnTo>
                <a:lnTo>
                  <a:pt x="14031896" y="4845213"/>
                </a:lnTo>
                <a:lnTo>
                  <a:pt x="0" y="4845213"/>
                </a:lnTo>
                <a:lnTo>
                  <a:pt x="0" y="0"/>
                </a:lnTo>
                <a:close/>
              </a:path>
            </a:pathLst>
          </a:custGeom>
          <a:blipFill>
            <a:blip r:embed="rId5"/>
            <a:stretch>
              <a:fillRect l="0" t="-39700" r="0" b="-12613"/>
            </a:stretch>
          </a:blipFill>
        </p:spPr>
      </p:sp>
      <p:sp>
        <p:nvSpPr>
          <p:cNvPr name="TextBox 6" id="6"/>
          <p:cNvSpPr txBox="true"/>
          <p:nvPr/>
        </p:nvSpPr>
        <p:spPr>
          <a:xfrm rot="0">
            <a:off x="2346705" y="1341602"/>
            <a:ext cx="9176274" cy="1105450"/>
          </a:xfrm>
          <a:prstGeom prst="rect">
            <a:avLst/>
          </a:prstGeom>
        </p:spPr>
        <p:txBody>
          <a:bodyPr anchor="t" rtlCol="false" tIns="0" lIns="0" bIns="0" rIns="0">
            <a:spAutoFit/>
          </a:bodyPr>
          <a:lstStyle/>
          <a:p>
            <a:pPr algn="l">
              <a:lnSpc>
                <a:spcPts val="8143"/>
              </a:lnSpc>
            </a:pPr>
            <a:r>
              <a:rPr lang="en-US" sz="8572" b="true">
                <a:solidFill>
                  <a:srgbClr val="FFFFFF"/>
                </a:solidFill>
                <a:latin typeface="Montserrat Semi-Bold"/>
                <a:ea typeface="Montserrat Semi-Bold"/>
                <a:cs typeface="Montserrat Semi-Bold"/>
                <a:sym typeface="Montserrat Semi-Bold"/>
              </a:rPr>
              <a:t>Primary Goal</a:t>
            </a:r>
          </a:p>
        </p:txBody>
      </p:sp>
      <p:sp>
        <p:nvSpPr>
          <p:cNvPr name="TextBox 7" id="7"/>
          <p:cNvSpPr txBox="true"/>
          <p:nvPr/>
        </p:nvSpPr>
        <p:spPr>
          <a:xfrm rot="0">
            <a:off x="2346705" y="2592372"/>
            <a:ext cx="8533572" cy="1488869"/>
          </a:xfrm>
          <a:prstGeom prst="rect">
            <a:avLst/>
          </a:prstGeom>
        </p:spPr>
        <p:txBody>
          <a:bodyPr anchor="t" rtlCol="false" tIns="0" lIns="0" bIns="0" rIns="0">
            <a:spAutoFit/>
          </a:bodyPr>
          <a:lstStyle/>
          <a:p>
            <a:pPr algn="l">
              <a:lnSpc>
                <a:spcPts val="3964"/>
              </a:lnSpc>
            </a:pPr>
            <a:r>
              <a:rPr lang="en-US" sz="3073" i="true">
                <a:solidFill>
                  <a:srgbClr val="FFFFFF"/>
                </a:solidFill>
                <a:latin typeface="Raleway Italics"/>
                <a:ea typeface="Raleway Italics"/>
                <a:cs typeface="Raleway Italics"/>
                <a:sym typeface="Raleway Italics"/>
              </a:rPr>
              <a:t>Develop an automated machine learning system that classifies brain tumors from MRI scans into four categories with high accuracy.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61B70">
                <a:alpha val="100000"/>
              </a:srgbClr>
            </a:gs>
            <a:gs pos="100000">
              <a:srgbClr val="000000">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1582889">
            <a:off x="-4783694" y="7975014"/>
            <a:ext cx="19149891" cy="6989710"/>
          </a:xfrm>
          <a:custGeom>
            <a:avLst/>
            <a:gdLst/>
            <a:ahLst/>
            <a:cxnLst/>
            <a:rect r="r" b="b" t="t" l="l"/>
            <a:pathLst>
              <a:path h="6989710" w="19149891">
                <a:moveTo>
                  <a:pt x="0" y="0"/>
                </a:moveTo>
                <a:lnTo>
                  <a:pt x="19149891" y="0"/>
                </a:lnTo>
                <a:lnTo>
                  <a:pt x="19149891" y="6989710"/>
                </a:lnTo>
                <a:lnTo>
                  <a:pt x="0" y="6989710"/>
                </a:lnTo>
                <a:lnTo>
                  <a:pt x="0" y="0"/>
                </a:lnTo>
                <a:close/>
              </a:path>
            </a:pathLst>
          </a:custGeom>
          <a:blipFill>
            <a:blip r:embed="rId2">
              <a:alphaModFix amt="80000"/>
            </a:blip>
            <a:stretch>
              <a:fillRect l="0" t="0" r="0" b="0"/>
            </a:stretch>
          </a:blipFill>
        </p:spPr>
      </p:sp>
      <p:sp>
        <p:nvSpPr>
          <p:cNvPr name="Freeform 3" id="3"/>
          <p:cNvSpPr/>
          <p:nvPr/>
        </p:nvSpPr>
        <p:spPr>
          <a:xfrm flipH="false" flipV="true" rot="1572293">
            <a:off x="3960635" y="-5525403"/>
            <a:ext cx="19149891" cy="6989710"/>
          </a:xfrm>
          <a:custGeom>
            <a:avLst/>
            <a:gdLst/>
            <a:ahLst/>
            <a:cxnLst/>
            <a:rect r="r" b="b" t="t" l="l"/>
            <a:pathLst>
              <a:path h="6989710" w="19149891">
                <a:moveTo>
                  <a:pt x="0" y="6989711"/>
                </a:moveTo>
                <a:lnTo>
                  <a:pt x="19149891" y="6989711"/>
                </a:lnTo>
                <a:lnTo>
                  <a:pt x="19149891" y="0"/>
                </a:lnTo>
                <a:lnTo>
                  <a:pt x="0" y="0"/>
                </a:lnTo>
                <a:lnTo>
                  <a:pt x="0" y="6989711"/>
                </a:lnTo>
                <a:close/>
              </a:path>
            </a:pathLst>
          </a:custGeom>
          <a:blipFill>
            <a:blip r:embed="rId2">
              <a:alphaModFix amt="80000"/>
            </a:blip>
            <a:stretch>
              <a:fillRect l="0" t="0" r="0" b="0"/>
            </a:stretch>
          </a:blipFill>
        </p:spPr>
      </p:sp>
      <p:sp>
        <p:nvSpPr>
          <p:cNvPr name="TextBox 4" id="4"/>
          <p:cNvSpPr txBox="true"/>
          <p:nvPr/>
        </p:nvSpPr>
        <p:spPr>
          <a:xfrm rot="0">
            <a:off x="1028700" y="1228725"/>
            <a:ext cx="11421520" cy="1100845"/>
          </a:xfrm>
          <a:prstGeom prst="rect">
            <a:avLst/>
          </a:prstGeom>
        </p:spPr>
        <p:txBody>
          <a:bodyPr anchor="t" rtlCol="false" tIns="0" lIns="0" bIns="0" rIns="0">
            <a:spAutoFit/>
          </a:bodyPr>
          <a:lstStyle/>
          <a:p>
            <a:pPr algn="l">
              <a:lnSpc>
                <a:spcPts val="8143"/>
              </a:lnSpc>
            </a:pPr>
            <a:r>
              <a:rPr lang="en-US" sz="8572" b="true">
                <a:solidFill>
                  <a:srgbClr val="36E9FD"/>
                </a:solidFill>
                <a:latin typeface="Montserrat Semi-Bold"/>
                <a:ea typeface="Montserrat Semi-Bold"/>
                <a:cs typeface="Montserrat Semi-Bold"/>
                <a:sym typeface="Montserrat Semi-Bold"/>
              </a:rPr>
              <a:t>Dataset Overview</a:t>
            </a:r>
          </a:p>
        </p:txBody>
      </p:sp>
      <p:sp>
        <p:nvSpPr>
          <p:cNvPr name="TextBox 5" id="5"/>
          <p:cNvSpPr txBox="true"/>
          <p:nvPr/>
        </p:nvSpPr>
        <p:spPr>
          <a:xfrm rot="0">
            <a:off x="1028700" y="3627827"/>
            <a:ext cx="7133440" cy="5435972"/>
          </a:xfrm>
          <a:prstGeom prst="rect">
            <a:avLst/>
          </a:prstGeom>
        </p:spPr>
        <p:txBody>
          <a:bodyPr anchor="t" rtlCol="false" tIns="0" lIns="0" bIns="0" rIns="0">
            <a:spAutoFit/>
          </a:bodyPr>
          <a:lstStyle/>
          <a:p>
            <a:pPr algn="l" marL="663585" indent="-331792" lvl="1">
              <a:lnSpc>
                <a:spcPts val="4610"/>
              </a:lnSpc>
              <a:buAutoNum type="arabicPeriod" startAt="1"/>
            </a:pPr>
            <a:r>
              <a:rPr lang="en-US" b="true" sz="3073" i="true">
                <a:solidFill>
                  <a:srgbClr val="FFFFFF"/>
                </a:solidFill>
                <a:latin typeface="Raleway Bold Italics"/>
                <a:ea typeface="Raleway Bold Italics"/>
                <a:cs typeface="Raleway Bold Italics"/>
                <a:sym typeface="Raleway Bold Italics"/>
              </a:rPr>
              <a:t>Origin of the Data</a:t>
            </a:r>
          </a:p>
          <a:p>
            <a:pPr algn="l" marL="555638" indent="-277819" lvl="1">
              <a:lnSpc>
                <a:spcPts val="3860"/>
              </a:lnSpc>
              <a:buFont typeface="Arial"/>
              <a:buChar char="•"/>
            </a:pPr>
            <a:r>
              <a:rPr lang="en-US" sz="2573" i="true">
                <a:solidFill>
                  <a:srgbClr val="FFFFFF"/>
                </a:solidFill>
                <a:latin typeface="Raleway Italics"/>
                <a:ea typeface="Raleway Italics"/>
                <a:cs typeface="Raleway Italics"/>
                <a:sym typeface="Raleway Italics"/>
              </a:rPr>
              <a:t>The dataset consists of brain MRI scans collected from medical repositories or hospitals.</a:t>
            </a:r>
          </a:p>
          <a:p>
            <a:pPr algn="l" marL="555638" indent="-277819" lvl="1">
              <a:lnSpc>
                <a:spcPts val="3860"/>
              </a:lnSpc>
              <a:buFont typeface="Arial"/>
              <a:buChar char="•"/>
            </a:pPr>
            <a:r>
              <a:rPr lang="en-US" sz="2573" i="true">
                <a:solidFill>
                  <a:srgbClr val="FFFFFF"/>
                </a:solidFill>
                <a:latin typeface="Raleway Italics"/>
                <a:ea typeface="Raleway Italics"/>
                <a:cs typeface="Raleway Italics"/>
                <a:sym typeface="Raleway Italics"/>
              </a:rPr>
              <a:t>Common public sources:</a:t>
            </a:r>
          </a:p>
          <a:p>
            <a:pPr algn="l" marL="1111275" indent="-370425" lvl="2">
              <a:lnSpc>
                <a:spcPts val="3860"/>
              </a:lnSpc>
              <a:buFont typeface="Arial"/>
              <a:buChar char="⚬"/>
            </a:pPr>
            <a:r>
              <a:rPr lang="en-US" sz="2573" i="true">
                <a:solidFill>
                  <a:srgbClr val="FFFFFF"/>
                </a:solidFill>
                <a:latin typeface="Raleway Italics"/>
                <a:ea typeface="Raleway Italics"/>
                <a:cs typeface="Raleway Italics"/>
                <a:sym typeface="Raleway Italics"/>
              </a:rPr>
              <a:t>Figshare (</a:t>
            </a:r>
            <a:r>
              <a:rPr lang="en-US" sz="2573" i="true" u="sng">
                <a:solidFill>
                  <a:srgbClr val="FFFFFF"/>
                </a:solidFill>
                <a:latin typeface="Raleway Italics"/>
                <a:ea typeface="Raleway Italics"/>
                <a:cs typeface="Raleway Italics"/>
                <a:sym typeface="Raleway Italics"/>
                <a:hlinkClick r:id="rId3" tooltip="https://figshare.com/articles/brain_tumor_dataset/1512427"/>
              </a:rPr>
              <a:t>Brain Tumor Dataset</a:t>
            </a:r>
            <a:r>
              <a:rPr lang="en-US" sz="2573" i="true">
                <a:solidFill>
                  <a:srgbClr val="FFFFFF"/>
                </a:solidFill>
                <a:latin typeface="Raleway Italics"/>
                <a:ea typeface="Raleway Italics"/>
                <a:cs typeface="Raleway Italics"/>
                <a:sym typeface="Raleway Italics"/>
              </a:rPr>
              <a:t>)</a:t>
            </a:r>
          </a:p>
          <a:p>
            <a:pPr algn="l" marL="1111275" indent="-370425" lvl="2">
              <a:lnSpc>
                <a:spcPts val="3860"/>
              </a:lnSpc>
              <a:buFont typeface="Arial"/>
              <a:buChar char="⚬"/>
            </a:pPr>
            <a:r>
              <a:rPr lang="en-US" sz="2573" i="true">
                <a:solidFill>
                  <a:srgbClr val="FFFFFF"/>
                </a:solidFill>
                <a:latin typeface="Raleway Italics"/>
                <a:ea typeface="Raleway Italics"/>
                <a:cs typeface="Raleway Italics"/>
                <a:sym typeface="Raleway Italics"/>
              </a:rPr>
              <a:t>BraTS (Brain Tumor Segmentation Challenge)</a:t>
            </a:r>
          </a:p>
          <a:p>
            <a:pPr algn="l" marL="1111275" indent="-370425" lvl="2">
              <a:lnSpc>
                <a:spcPts val="3860"/>
              </a:lnSpc>
              <a:buFont typeface="Arial"/>
              <a:buChar char="⚬"/>
            </a:pPr>
            <a:r>
              <a:rPr lang="en-US" sz="2573" i="true">
                <a:solidFill>
                  <a:srgbClr val="FFFFFF"/>
                </a:solidFill>
                <a:latin typeface="Raleway Italics"/>
                <a:ea typeface="Raleway Italics"/>
                <a:cs typeface="Raleway Italics"/>
                <a:sym typeface="Raleway Italics"/>
              </a:rPr>
              <a:t>Kaggle (e.g., </a:t>
            </a:r>
            <a:r>
              <a:rPr lang="en-US" sz="2573" i="true" u="sng">
                <a:solidFill>
                  <a:srgbClr val="FFFFFF"/>
                </a:solidFill>
                <a:latin typeface="Raleway Italics"/>
                <a:ea typeface="Raleway Italics"/>
                <a:cs typeface="Raleway Italics"/>
                <a:sym typeface="Raleway Italics"/>
                <a:hlinkClick r:id="rId4" tooltip="https://www.kaggle.com/navoneel/brain-mri-images-for-brain-tumor-detection"/>
              </a:rPr>
              <a:t>Brain MRI Images for Brain Tumor Detection</a:t>
            </a:r>
            <a:r>
              <a:rPr lang="en-US" sz="2573" i="true">
                <a:solidFill>
                  <a:srgbClr val="FFFFFF"/>
                </a:solidFill>
                <a:latin typeface="Raleway Italics"/>
                <a:ea typeface="Raleway Italics"/>
                <a:cs typeface="Raleway Italics"/>
                <a:sym typeface="Raleway Italics"/>
              </a:rPr>
              <a:t>)</a:t>
            </a:r>
          </a:p>
          <a:p>
            <a:pPr algn="l">
              <a:lnSpc>
                <a:spcPts val="3860"/>
              </a:lnSpc>
            </a:pPr>
          </a:p>
        </p:txBody>
      </p:sp>
      <p:sp>
        <p:nvSpPr>
          <p:cNvPr name="Freeform 6" id="6"/>
          <p:cNvSpPr/>
          <p:nvPr/>
        </p:nvSpPr>
        <p:spPr>
          <a:xfrm flipH="false" flipV="false" rot="0">
            <a:off x="16406257" y="8640455"/>
            <a:ext cx="2691369" cy="2691369"/>
          </a:xfrm>
          <a:custGeom>
            <a:avLst/>
            <a:gdLst/>
            <a:ahLst/>
            <a:cxnLst/>
            <a:rect r="r" b="b" t="t" l="l"/>
            <a:pathLst>
              <a:path h="2691369" w="2691369">
                <a:moveTo>
                  <a:pt x="0" y="0"/>
                </a:moveTo>
                <a:lnTo>
                  <a:pt x="2691369" y="0"/>
                </a:lnTo>
                <a:lnTo>
                  <a:pt x="2691369" y="2691369"/>
                </a:lnTo>
                <a:lnTo>
                  <a:pt x="0" y="269136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9144000" y="3627827"/>
            <a:ext cx="7922018" cy="5264521"/>
          </a:xfrm>
          <a:prstGeom prst="rect">
            <a:avLst/>
          </a:prstGeom>
        </p:spPr>
        <p:txBody>
          <a:bodyPr anchor="t" rtlCol="false" tIns="0" lIns="0" bIns="0" rIns="0">
            <a:spAutoFit/>
          </a:bodyPr>
          <a:lstStyle/>
          <a:p>
            <a:pPr algn="l">
              <a:lnSpc>
                <a:spcPts val="4610"/>
              </a:lnSpc>
            </a:pPr>
            <a:r>
              <a:rPr lang="en-US" sz="3073" i="true" b="true">
                <a:solidFill>
                  <a:srgbClr val="FFFFFF"/>
                </a:solidFill>
                <a:latin typeface="Raleway Bold Italics"/>
                <a:ea typeface="Raleway Bold Italics"/>
                <a:cs typeface="Raleway Bold Italics"/>
                <a:sym typeface="Raleway Bold Italics"/>
              </a:rPr>
              <a:t>   2. MRI Image Characteristics</a:t>
            </a:r>
          </a:p>
          <a:p>
            <a:pPr algn="l">
              <a:lnSpc>
                <a:spcPts val="3860"/>
              </a:lnSpc>
            </a:pPr>
            <a:r>
              <a:rPr lang="en-US" sz="2573" i="true">
                <a:solidFill>
                  <a:srgbClr val="FFFFFF"/>
                </a:solidFill>
                <a:latin typeface="Raleway Italics"/>
                <a:ea typeface="Raleway Italics"/>
                <a:cs typeface="Raleway Italics"/>
                <a:sym typeface="Raleway Italics"/>
              </a:rPr>
              <a:t>Technical Specifications:</a:t>
            </a:r>
          </a:p>
          <a:p>
            <a:pPr algn="l" marL="555638" indent="-277819" lvl="1">
              <a:lnSpc>
                <a:spcPts val="3860"/>
              </a:lnSpc>
              <a:buFont typeface="Arial"/>
              <a:buChar char="•"/>
            </a:pPr>
            <a:r>
              <a:rPr lang="en-US" sz="2573" i="true">
                <a:solidFill>
                  <a:srgbClr val="FFFFFF"/>
                </a:solidFill>
                <a:latin typeface="Raleway Italics"/>
                <a:ea typeface="Raleway Italics"/>
                <a:cs typeface="Raleway Italics"/>
                <a:sym typeface="Raleway Italics"/>
              </a:rPr>
              <a:t>Fo</a:t>
            </a:r>
            <a:r>
              <a:rPr lang="en-US" sz="2573" i="true">
                <a:solidFill>
                  <a:srgbClr val="FFFFFF"/>
                </a:solidFill>
                <a:latin typeface="Raleway Italics"/>
                <a:ea typeface="Raleway Italics"/>
                <a:cs typeface="Raleway Italics"/>
                <a:sym typeface="Raleway Italics"/>
              </a:rPr>
              <a:t>rmat: .jpg or .png (common in public</a:t>
            </a:r>
            <a:r>
              <a:rPr lang="en-US" sz="2573" i="true">
                <a:solidFill>
                  <a:srgbClr val="FFFFFF"/>
                </a:solidFill>
                <a:latin typeface="Raleway Italics"/>
                <a:ea typeface="Raleway Italics"/>
                <a:cs typeface="Raleway Italics"/>
                <a:sym typeface="Raleway Italics"/>
              </a:rPr>
              <a:t> datasets).</a:t>
            </a:r>
          </a:p>
          <a:p>
            <a:pPr algn="l" marL="555638" indent="-277819" lvl="1">
              <a:lnSpc>
                <a:spcPts val="3860"/>
              </a:lnSpc>
              <a:buFont typeface="Arial"/>
              <a:buChar char="•"/>
            </a:pPr>
            <a:r>
              <a:rPr lang="en-US" sz="2573" i="true">
                <a:solidFill>
                  <a:srgbClr val="FFFFFF"/>
                </a:solidFill>
                <a:latin typeface="Raleway Italics"/>
                <a:ea typeface="Raleway Italics"/>
                <a:cs typeface="Raleway Italics"/>
                <a:sym typeface="Raleway Italics"/>
              </a:rPr>
              <a:t>Dimensions: Vary (e.g., 512x512 original → resized to 64x64 for model input).</a:t>
            </a:r>
          </a:p>
          <a:p>
            <a:pPr algn="l" marL="555638" indent="-277819" lvl="1">
              <a:lnSpc>
                <a:spcPts val="3860"/>
              </a:lnSpc>
              <a:buFont typeface="Arial"/>
              <a:buChar char="•"/>
            </a:pPr>
            <a:r>
              <a:rPr lang="en-US" sz="2573" i="true">
                <a:solidFill>
                  <a:srgbClr val="FFFFFF"/>
                </a:solidFill>
                <a:latin typeface="Raleway Italics"/>
                <a:ea typeface="Raleway Italics"/>
                <a:cs typeface="Raleway Italics"/>
                <a:sym typeface="Raleway Italics"/>
              </a:rPr>
              <a:t>Color Mode:</a:t>
            </a:r>
          </a:p>
          <a:p>
            <a:pPr algn="l" marL="1111275" indent="-370425" lvl="2">
              <a:lnSpc>
                <a:spcPts val="3860"/>
              </a:lnSpc>
              <a:buFont typeface="Arial"/>
              <a:buChar char="⚬"/>
            </a:pPr>
            <a:r>
              <a:rPr lang="en-US" sz="2573" i="true">
                <a:solidFill>
                  <a:srgbClr val="FFFFFF"/>
                </a:solidFill>
                <a:latin typeface="Raleway Italics"/>
                <a:ea typeface="Raleway Italics"/>
                <a:cs typeface="Raleway Italics"/>
                <a:sym typeface="Raleway Italics"/>
              </a:rPr>
              <a:t>Grayscale (1 channel) for simplicity.</a:t>
            </a:r>
          </a:p>
          <a:p>
            <a:pPr algn="l" marL="1111275" indent="-370425" lvl="2">
              <a:lnSpc>
                <a:spcPts val="3860"/>
              </a:lnSpc>
              <a:buFont typeface="Arial"/>
              <a:buChar char="⚬"/>
            </a:pPr>
            <a:r>
              <a:rPr lang="en-US" sz="2573" i="true">
                <a:solidFill>
                  <a:srgbClr val="FFFFFF"/>
                </a:solidFill>
                <a:latin typeface="Raleway Italics"/>
                <a:ea typeface="Raleway Italics"/>
                <a:cs typeface="Raleway Italics"/>
                <a:sym typeface="Raleway Italics"/>
              </a:rPr>
              <a:t>RGB (3 channels) if color features are relevant.</a:t>
            </a:r>
          </a:p>
          <a:p>
            <a:pPr algn="l" marL="555638" indent="-277819" lvl="1">
              <a:lnSpc>
                <a:spcPts val="3860"/>
              </a:lnSpc>
              <a:buFont typeface="Arial"/>
              <a:buChar char="•"/>
            </a:pPr>
            <a:r>
              <a:rPr lang="en-US" sz="2573" i="true">
                <a:solidFill>
                  <a:srgbClr val="FFFFFF"/>
                </a:solidFill>
                <a:latin typeface="Raleway Italics"/>
                <a:ea typeface="Raleway Italics"/>
                <a:cs typeface="Raleway Italics"/>
                <a:sym typeface="Raleway Italics"/>
              </a:rPr>
              <a:t>Artifacts: Some scans may have noise (mot</a:t>
            </a:r>
            <a:r>
              <a:rPr lang="en-US" sz="2573" i="true" u="none">
                <a:solidFill>
                  <a:srgbClr val="FFFFFF"/>
                </a:solidFill>
                <a:latin typeface="Raleway Italics"/>
                <a:ea typeface="Raleway Italics"/>
                <a:cs typeface="Raleway Italics"/>
                <a:sym typeface="Raleway Italics"/>
              </a:rPr>
              <a:t>i</a:t>
            </a:r>
            <a:r>
              <a:rPr lang="en-US" sz="2573" i="true">
                <a:solidFill>
                  <a:srgbClr val="FFFFFF"/>
                </a:solidFill>
                <a:latin typeface="Raleway Italics"/>
                <a:ea typeface="Raleway Italics"/>
                <a:cs typeface="Raleway Italics"/>
                <a:sym typeface="Raleway Italics"/>
              </a:rPr>
              <a:t>o</a:t>
            </a:r>
            <a:r>
              <a:rPr lang="en-US" sz="2573" i="true" u="none">
                <a:solidFill>
                  <a:srgbClr val="FFFFFF"/>
                </a:solidFill>
                <a:latin typeface="Raleway Italics"/>
                <a:ea typeface="Raleway Italics"/>
                <a:cs typeface="Raleway Italics"/>
                <a:sym typeface="Raleway Italics"/>
              </a:rPr>
              <a:t>n </a:t>
            </a:r>
            <a:r>
              <a:rPr lang="en-US" sz="2573" i="true">
                <a:solidFill>
                  <a:srgbClr val="FFFFFF"/>
                </a:solidFill>
                <a:latin typeface="Raleway Italics"/>
                <a:ea typeface="Raleway Italics"/>
                <a:cs typeface="Raleway Italics"/>
                <a:sym typeface="Raleway Italics"/>
              </a:rPr>
              <a:t>bl</a:t>
            </a:r>
            <a:r>
              <a:rPr lang="en-US" sz="2573" i="true" u="none">
                <a:solidFill>
                  <a:srgbClr val="FFFFFF"/>
                </a:solidFill>
                <a:latin typeface="Raleway Italics"/>
                <a:ea typeface="Raleway Italics"/>
                <a:cs typeface="Raleway Italics"/>
                <a:sym typeface="Raleway Italics"/>
              </a:rPr>
              <a:t>u</a:t>
            </a:r>
            <a:r>
              <a:rPr lang="en-US" sz="2573" i="true">
                <a:solidFill>
                  <a:srgbClr val="FFFFFF"/>
                </a:solidFill>
                <a:latin typeface="Raleway Italics"/>
                <a:ea typeface="Raleway Italics"/>
                <a:cs typeface="Raleway Italics"/>
                <a:sym typeface="Raleway Italics"/>
              </a:rPr>
              <a:t>r, </a:t>
            </a:r>
            <a:r>
              <a:rPr lang="en-US" sz="2573" i="true" u="none">
                <a:solidFill>
                  <a:srgbClr val="FFFFFF"/>
                </a:solidFill>
                <a:latin typeface="Raleway Italics"/>
                <a:ea typeface="Raleway Italics"/>
                <a:cs typeface="Raleway Italics"/>
                <a:sym typeface="Raleway Italics"/>
              </a:rPr>
              <a:t>m</a:t>
            </a:r>
            <a:r>
              <a:rPr lang="en-US" sz="2573" i="true">
                <a:solidFill>
                  <a:srgbClr val="FFFFFF"/>
                </a:solidFill>
                <a:latin typeface="Raleway Italics"/>
                <a:ea typeface="Raleway Italics"/>
                <a:cs typeface="Raleway Italics"/>
                <a:sym typeface="Raleway Italics"/>
              </a:rPr>
              <a:t>achine</a:t>
            </a:r>
            <a:r>
              <a:rPr lang="en-US" sz="2573" i="true" u="none">
                <a:solidFill>
                  <a:srgbClr val="FFFFFF"/>
                </a:solidFill>
                <a:latin typeface="Raleway Italics"/>
                <a:ea typeface="Raleway Italics"/>
                <a:cs typeface="Raleway Italics"/>
                <a:sym typeface="Raleway Italics"/>
              </a:rPr>
              <a:t> a</a:t>
            </a:r>
            <a:r>
              <a:rPr lang="en-US" sz="2573" i="true">
                <a:solidFill>
                  <a:srgbClr val="FFFFFF"/>
                </a:solidFill>
                <a:latin typeface="Raleway Italics"/>
                <a:ea typeface="Raleway Italics"/>
                <a:cs typeface="Raleway Italics"/>
                <a:sym typeface="Raleway Italics"/>
              </a:rPr>
              <a:t>r</a:t>
            </a:r>
            <a:r>
              <a:rPr lang="en-US" sz="2573" i="true" u="none">
                <a:solidFill>
                  <a:srgbClr val="FFFFFF"/>
                </a:solidFill>
                <a:latin typeface="Raleway Italics"/>
                <a:ea typeface="Raleway Italics"/>
                <a:cs typeface="Raleway Italics"/>
                <a:sym typeface="Raleway Italics"/>
              </a:rPr>
              <a:t>t</a:t>
            </a:r>
            <a:r>
              <a:rPr lang="en-US" sz="2573" i="true">
                <a:solidFill>
                  <a:srgbClr val="FFFFFF"/>
                </a:solidFill>
                <a:latin typeface="Raleway Italics"/>
                <a:ea typeface="Raleway Italics"/>
                <a:cs typeface="Raleway Italics"/>
                <a:sym typeface="Raleway Italics"/>
              </a:rPr>
              <a:t>if</a:t>
            </a:r>
            <a:r>
              <a:rPr lang="en-US" sz="2573" i="true" u="none">
                <a:solidFill>
                  <a:srgbClr val="FFFFFF"/>
                </a:solidFill>
                <a:latin typeface="Raleway Italics"/>
                <a:ea typeface="Raleway Italics"/>
                <a:cs typeface="Raleway Italics"/>
                <a:sym typeface="Raleway Italics"/>
              </a:rPr>
              <a:t>a</a:t>
            </a:r>
            <a:r>
              <a:rPr lang="en-US" sz="2573" i="true">
                <a:solidFill>
                  <a:srgbClr val="FFFFFF"/>
                </a:solidFill>
                <a:latin typeface="Raleway Italics"/>
                <a:ea typeface="Raleway Italics"/>
                <a:cs typeface="Raleway Italics"/>
                <a:sym typeface="Raleway Italics"/>
              </a:rPr>
              <a:t>c</a:t>
            </a:r>
            <a:r>
              <a:rPr lang="en-US" sz="2573" i="true" u="none">
                <a:solidFill>
                  <a:srgbClr val="FFFFFF"/>
                </a:solidFill>
                <a:latin typeface="Raleway Italics"/>
                <a:ea typeface="Raleway Italics"/>
                <a:cs typeface="Raleway Italics"/>
                <a:sym typeface="Raleway Italics"/>
              </a:rPr>
              <a:t>t</a:t>
            </a:r>
            <a:r>
              <a:rPr lang="en-US" sz="2573" i="true">
                <a:solidFill>
                  <a:srgbClr val="FFFFFF"/>
                </a:solidFill>
                <a:latin typeface="Raleway Italics"/>
                <a:ea typeface="Raleway Italics"/>
                <a:cs typeface="Raleway Italics"/>
                <a:sym typeface="Raleway Italics"/>
              </a:rPr>
              <a:t>s).</a:t>
            </a:r>
          </a:p>
          <a:p>
            <a:pPr algn="l">
              <a:lnSpc>
                <a:spcPts val="2360"/>
              </a:lnSpc>
            </a:pPr>
          </a:p>
        </p:txBody>
      </p:sp>
      <p:sp>
        <p:nvSpPr>
          <p:cNvPr name="TextBox 8" id="8"/>
          <p:cNvSpPr txBox="true"/>
          <p:nvPr/>
        </p:nvSpPr>
        <p:spPr>
          <a:xfrm rot="0">
            <a:off x="1144709" y="2215270"/>
            <a:ext cx="7999291" cy="654422"/>
          </a:xfrm>
          <a:prstGeom prst="rect">
            <a:avLst/>
          </a:prstGeom>
        </p:spPr>
        <p:txBody>
          <a:bodyPr anchor="t" rtlCol="false" tIns="0" lIns="0" bIns="0" rIns="0">
            <a:spAutoFit/>
          </a:bodyPr>
          <a:lstStyle/>
          <a:p>
            <a:pPr algn="l">
              <a:lnSpc>
                <a:spcPts val="5360"/>
              </a:lnSpc>
            </a:pPr>
            <a:r>
              <a:rPr lang="en-US" sz="3573" i="true" b="true">
                <a:solidFill>
                  <a:srgbClr val="FFFFFF"/>
                </a:solidFill>
                <a:latin typeface="Raleway Bold Italics"/>
                <a:ea typeface="Raleway Bold Italics"/>
                <a:cs typeface="Raleway Bold Italics"/>
                <a:sym typeface="Raleway Bold Italics"/>
              </a:rPr>
              <a:t>Data</a:t>
            </a:r>
            <a:r>
              <a:rPr lang="en-US" sz="3573" i="true" b="true">
                <a:solidFill>
                  <a:srgbClr val="FFFFFF"/>
                </a:solidFill>
                <a:latin typeface="Raleway Bold Italics"/>
                <a:ea typeface="Raleway Bold Italics"/>
                <a:cs typeface="Raleway Bold Italics"/>
                <a:sym typeface="Raleway Bold Italics"/>
              </a:rPr>
              <a:t>set Source &amp;</a:t>
            </a:r>
            <a:r>
              <a:rPr lang="en-US" b="true" sz="3573" i="true" u="none">
                <a:solidFill>
                  <a:srgbClr val="FFFFFF"/>
                </a:solidFill>
                <a:latin typeface="Raleway Bold Italics"/>
                <a:ea typeface="Raleway Bold Italics"/>
                <a:cs typeface="Raleway Bold Italics"/>
                <a:sym typeface="Raleway Bold Italics"/>
              </a:rPr>
              <a:t> </a:t>
            </a:r>
            <a:r>
              <a:rPr lang="en-US" sz="3573" i="true" b="true">
                <a:solidFill>
                  <a:srgbClr val="FFFFFF"/>
                </a:solidFill>
                <a:latin typeface="Raleway Bold Italics"/>
                <a:ea typeface="Raleway Bold Italics"/>
                <a:cs typeface="Raleway Bold Italics"/>
                <a:sym typeface="Raleway Bold Italics"/>
              </a:rPr>
              <a:t>Struct</a:t>
            </a:r>
            <a:r>
              <a:rPr lang="en-US" b="true" sz="3573" i="true" u="none">
                <a:solidFill>
                  <a:srgbClr val="FFFFFF"/>
                </a:solidFill>
                <a:latin typeface="Raleway Bold Italics"/>
                <a:ea typeface="Raleway Bold Italics"/>
                <a:cs typeface="Raleway Bold Italics"/>
                <a:sym typeface="Raleway Bold Italics"/>
              </a:rPr>
              <a:t>ure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32A64">
                <a:alpha val="100000"/>
              </a:srgbClr>
            </a:gs>
            <a:gs pos="100000">
              <a:srgbClr val="414C94">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1314761">
            <a:off x="5680419" y="6404287"/>
            <a:ext cx="19149891" cy="6989710"/>
          </a:xfrm>
          <a:custGeom>
            <a:avLst/>
            <a:gdLst/>
            <a:ahLst/>
            <a:cxnLst/>
            <a:rect r="r" b="b" t="t" l="l"/>
            <a:pathLst>
              <a:path h="6989710" w="19149891">
                <a:moveTo>
                  <a:pt x="0" y="0"/>
                </a:moveTo>
                <a:lnTo>
                  <a:pt x="19149891" y="0"/>
                </a:lnTo>
                <a:lnTo>
                  <a:pt x="19149891" y="6989711"/>
                </a:lnTo>
                <a:lnTo>
                  <a:pt x="0" y="6989711"/>
                </a:lnTo>
                <a:lnTo>
                  <a:pt x="0" y="0"/>
                </a:lnTo>
                <a:close/>
              </a:path>
            </a:pathLst>
          </a:custGeom>
          <a:blipFill>
            <a:blip r:embed="rId2">
              <a:alphaModFix amt="80000"/>
            </a:blip>
            <a:stretch>
              <a:fillRect l="0" t="0" r="0" b="0"/>
            </a:stretch>
          </a:blipFill>
        </p:spPr>
      </p:sp>
      <p:sp>
        <p:nvSpPr>
          <p:cNvPr name="Freeform 3" id="3"/>
          <p:cNvSpPr/>
          <p:nvPr/>
        </p:nvSpPr>
        <p:spPr>
          <a:xfrm flipH="false" flipV="true" rot="1572293">
            <a:off x="3960635" y="-5525403"/>
            <a:ext cx="19149891" cy="6989710"/>
          </a:xfrm>
          <a:custGeom>
            <a:avLst/>
            <a:gdLst/>
            <a:ahLst/>
            <a:cxnLst/>
            <a:rect r="r" b="b" t="t" l="l"/>
            <a:pathLst>
              <a:path h="6989710" w="19149891">
                <a:moveTo>
                  <a:pt x="0" y="6989711"/>
                </a:moveTo>
                <a:lnTo>
                  <a:pt x="19149891" y="6989711"/>
                </a:lnTo>
                <a:lnTo>
                  <a:pt x="19149891" y="0"/>
                </a:lnTo>
                <a:lnTo>
                  <a:pt x="0" y="0"/>
                </a:lnTo>
                <a:lnTo>
                  <a:pt x="0" y="6989711"/>
                </a:lnTo>
                <a:close/>
              </a:path>
            </a:pathLst>
          </a:custGeom>
          <a:blipFill>
            <a:blip r:embed="rId2">
              <a:alphaModFix amt="80000"/>
            </a:blip>
            <a:stretch>
              <a:fillRect l="0" t="0" r="0" b="0"/>
            </a:stretch>
          </a:blipFill>
        </p:spPr>
      </p:sp>
      <p:sp>
        <p:nvSpPr>
          <p:cNvPr name="Freeform 4" id="4"/>
          <p:cNvSpPr/>
          <p:nvPr/>
        </p:nvSpPr>
        <p:spPr>
          <a:xfrm flipH="false" flipV="false" rot="0">
            <a:off x="11600331" y="2329570"/>
            <a:ext cx="6164604" cy="6197960"/>
          </a:xfrm>
          <a:custGeom>
            <a:avLst/>
            <a:gdLst/>
            <a:ahLst/>
            <a:cxnLst/>
            <a:rect r="r" b="b" t="t" l="l"/>
            <a:pathLst>
              <a:path h="6197960" w="6164604">
                <a:moveTo>
                  <a:pt x="0" y="0"/>
                </a:moveTo>
                <a:lnTo>
                  <a:pt x="6164604" y="0"/>
                </a:lnTo>
                <a:lnTo>
                  <a:pt x="6164604" y="6197960"/>
                </a:lnTo>
                <a:lnTo>
                  <a:pt x="0" y="6197960"/>
                </a:lnTo>
                <a:lnTo>
                  <a:pt x="0" y="0"/>
                </a:lnTo>
                <a:close/>
              </a:path>
            </a:pathLst>
          </a:custGeom>
          <a:blipFill>
            <a:blip r:embed="rId3"/>
            <a:stretch>
              <a:fillRect l="0" t="0" r="0" b="-8315"/>
            </a:stretch>
          </a:blipFill>
        </p:spPr>
      </p:sp>
      <p:sp>
        <p:nvSpPr>
          <p:cNvPr name="TextBox 5" id="5"/>
          <p:cNvSpPr txBox="true"/>
          <p:nvPr/>
        </p:nvSpPr>
        <p:spPr>
          <a:xfrm rot="0">
            <a:off x="1028700" y="1228725"/>
            <a:ext cx="11421520" cy="1100845"/>
          </a:xfrm>
          <a:prstGeom prst="rect">
            <a:avLst/>
          </a:prstGeom>
        </p:spPr>
        <p:txBody>
          <a:bodyPr anchor="t" rtlCol="false" tIns="0" lIns="0" bIns="0" rIns="0">
            <a:spAutoFit/>
          </a:bodyPr>
          <a:lstStyle/>
          <a:p>
            <a:pPr algn="l">
              <a:lnSpc>
                <a:spcPts val="8143"/>
              </a:lnSpc>
            </a:pPr>
            <a:r>
              <a:rPr lang="en-US" sz="8572" b="true">
                <a:solidFill>
                  <a:srgbClr val="36E9FD"/>
                </a:solidFill>
                <a:latin typeface="Montserrat Semi-Bold"/>
                <a:ea typeface="Montserrat Semi-Bold"/>
                <a:cs typeface="Montserrat Semi-Bold"/>
                <a:sym typeface="Montserrat Semi-Bold"/>
              </a:rPr>
              <a:t>Methodology</a:t>
            </a:r>
          </a:p>
        </p:txBody>
      </p:sp>
      <p:sp>
        <p:nvSpPr>
          <p:cNvPr name="TextBox 6" id="6"/>
          <p:cNvSpPr txBox="true"/>
          <p:nvPr/>
        </p:nvSpPr>
        <p:spPr>
          <a:xfrm rot="0">
            <a:off x="1224547" y="2959648"/>
            <a:ext cx="11029826" cy="6578600"/>
          </a:xfrm>
          <a:prstGeom prst="rect">
            <a:avLst/>
          </a:prstGeom>
        </p:spPr>
        <p:txBody>
          <a:bodyPr anchor="t" rtlCol="false" tIns="0" lIns="0" bIns="0" rIns="0">
            <a:spAutoFit/>
          </a:bodyPr>
          <a:lstStyle/>
          <a:p>
            <a:pPr algn="l">
              <a:lnSpc>
                <a:spcPts val="4374"/>
              </a:lnSpc>
            </a:pPr>
            <a:r>
              <a:rPr lang="en-US" sz="2499" b="true">
                <a:solidFill>
                  <a:srgbClr val="FFFFFF"/>
                </a:solidFill>
                <a:latin typeface="Montserrat Bold"/>
                <a:ea typeface="Montserrat Bold"/>
                <a:cs typeface="Montserrat Bold"/>
                <a:sym typeface="Montserrat Bold"/>
              </a:rPr>
              <a:t>Step 1: Data Loading &amp; Preprocessing</a:t>
            </a:r>
          </a:p>
          <a:p>
            <a:pPr algn="l" marL="539749" indent="-269875" lvl="1">
              <a:lnSpc>
                <a:spcPts val="4374"/>
              </a:lnSpc>
              <a:buFont typeface="Arial"/>
              <a:buChar char="•"/>
            </a:pPr>
            <a:r>
              <a:rPr lang="en-US" sz="2499">
                <a:solidFill>
                  <a:srgbClr val="FFFFFF"/>
                </a:solidFill>
                <a:latin typeface="Montserrat"/>
                <a:ea typeface="Montserrat"/>
                <a:cs typeface="Montserrat"/>
                <a:sym typeface="Montserrat"/>
              </a:rPr>
              <a:t>OpenCV for image reading and resizing (64x64 grayscale).</a:t>
            </a:r>
          </a:p>
          <a:p>
            <a:pPr algn="l" marL="539749" indent="-269875" lvl="1">
              <a:lnSpc>
                <a:spcPts val="4374"/>
              </a:lnSpc>
              <a:buFont typeface="Arial"/>
              <a:buChar char="•"/>
            </a:pPr>
            <a:r>
              <a:rPr lang="en-US" sz="2499">
                <a:solidFill>
                  <a:srgbClr val="FFFFFF"/>
                </a:solidFill>
                <a:latin typeface="Montserrat"/>
                <a:ea typeface="Montserrat"/>
                <a:cs typeface="Montserrat"/>
                <a:sym typeface="Montserrat"/>
              </a:rPr>
              <a:t>NumPy for array conversion.</a:t>
            </a:r>
          </a:p>
          <a:p>
            <a:pPr algn="l" marL="539749" indent="-269875" lvl="1">
              <a:lnSpc>
                <a:spcPts val="4374"/>
              </a:lnSpc>
              <a:buFont typeface="Arial"/>
              <a:buChar char="•"/>
            </a:pPr>
            <a:r>
              <a:rPr lang="en-US" sz="2499">
                <a:solidFill>
                  <a:srgbClr val="FFFFFF"/>
                </a:solidFill>
                <a:latin typeface="Montserrat"/>
                <a:ea typeface="Montserrat"/>
                <a:cs typeface="Montserrat"/>
                <a:sym typeface="Montserrat"/>
              </a:rPr>
              <a:t>Flattening images into 1D vectors (64x64 = 4096 features).</a:t>
            </a:r>
          </a:p>
          <a:p>
            <a:pPr algn="l">
              <a:lnSpc>
                <a:spcPts val="4374"/>
              </a:lnSpc>
            </a:pPr>
            <a:r>
              <a:rPr lang="en-US" sz="2499" b="true">
                <a:solidFill>
                  <a:srgbClr val="FFFFFF"/>
                </a:solidFill>
                <a:latin typeface="Montserrat Bold"/>
                <a:ea typeface="Montserrat Bold"/>
                <a:cs typeface="Montserrat Bold"/>
                <a:sym typeface="Montserrat Bold"/>
              </a:rPr>
              <a:t>Step 2: Model Selection</a:t>
            </a:r>
          </a:p>
          <a:p>
            <a:pPr algn="l" marL="539749" indent="-269875" lvl="1">
              <a:lnSpc>
                <a:spcPts val="4374"/>
              </a:lnSpc>
              <a:buFont typeface="Arial"/>
              <a:buChar char="•"/>
            </a:pPr>
            <a:r>
              <a:rPr lang="en-US" sz="2499">
                <a:solidFill>
                  <a:srgbClr val="FFFFFF"/>
                </a:solidFill>
                <a:latin typeface="Montserrat"/>
                <a:ea typeface="Montserrat"/>
                <a:cs typeface="Montserrat"/>
                <a:sym typeface="Montserrat"/>
              </a:rPr>
              <a:t>Random Forest Classifier (scikit-learn).</a:t>
            </a:r>
          </a:p>
          <a:p>
            <a:pPr algn="l" marL="1079499" indent="-359833" lvl="2">
              <a:lnSpc>
                <a:spcPts val="4374"/>
              </a:lnSpc>
              <a:buFont typeface="Arial"/>
              <a:buChar char="⚬"/>
            </a:pPr>
            <a:r>
              <a:rPr lang="en-US" sz="2499">
                <a:solidFill>
                  <a:srgbClr val="FFFFFF"/>
                </a:solidFill>
                <a:latin typeface="Montserrat"/>
                <a:ea typeface="Montserrat"/>
                <a:cs typeface="Montserrat"/>
                <a:sym typeface="Montserrat"/>
              </a:rPr>
              <a:t>Ensemble method, good for image classification.</a:t>
            </a:r>
          </a:p>
          <a:p>
            <a:pPr algn="l" marL="1079499" indent="-359833" lvl="2">
              <a:lnSpc>
                <a:spcPts val="4374"/>
              </a:lnSpc>
              <a:buFont typeface="Arial"/>
              <a:buChar char="⚬"/>
            </a:pPr>
            <a:r>
              <a:rPr lang="en-US" sz="2499">
                <a:solidFill>
                  <a:srgbClr val="FFFFFF"/>
                </a:solidFill>
                <a:latin typeface="Montserrat"/>
                <a:ea typeface="Montserrat"/>
                <a:cs typeface="Montserrat"/>
                <a:sym typeface="Montserrat"/>
              </a:rPr>
              <a:t>Handles high-dimensional data well.</a:t>
            </a:r>
          </a:p>
          <a:p>
            <a:pPr algn="l">
              <a:lnSpc>
                <a:spcPts val="4374"/>
              </a:lnSpc>
            </a:pPr>
            <a:r>
              <a:rPr lang="en-US" sz="2499" b="true">
                <a:solidFill>
                  <a:srgbClr val="FFFFFF"/>
                </a:solidFill>
                <a:latin typeface="Montserrat Bold"/>
                <a:ea typeface="Montserrat Bold"/>
                <a:cs typeface="Montserrat Bold"/>
                <a:sym typeface="Montserrat Bold"/>
              </a:rPr>
              <a:t>Step 3: Training &amp; Evaluation</a:t>
            </a:r>
          </a:p>
          <a:p>
            <a:pPr algn="l" marL="539749" indent="-269875" lvl="1">
              <a:lnSpc>
                <a:spcPts val="4374"/>
              </a:lnSpc>
              <a:buFont typeface="Arial"/>
              <a:buChar char="•"/>
            </a:pPr>
            <a:r>
              <a:rPr lang="en-US" sz="2499">
                <a:solidFill>
                  <a:srgbClr val="FFFFFF"/>
                </a:solidFill>
                <a:latin typeface="Montserrat"/>
                <a:ea typeface="Montserrat"/>
                <a:cs typeface="Montserrat"/>
                <a:sym typeface="Montserrat"/>
              </a:rPr>
              <a:t>Train-Test Split.</a:t>
            </a:r>
          </a:p>
          <a:p>
            <a:pPr algn="l" marL="539749" indent="-269875" lvl="1">
              <a:lnSpc>
                <a:spcPts val="4374"/>
              </a:lnSpc>
              <a:buFont typeface="Arial"/>
              <a:buChar char="•"/>
            </a:pPr>
            <a:r>
              <a:rPr lang="en-US" sz="2499">
                <a:solidFill>
                  <a:srgbClr val="FFFFFF"/>
                </a:solidFill>
                <a:latin typeface="Montserrat"/>
                <a:ea typeface="Montserrat"/>
                <a:cs typeface="Montserrat"/>
                <a:sym typeface="Montserrat"/>
              </a:rPr>
              <a:t>Accuracy Score for performance measurement.</a:t>
            </a:r>
          </a:p>
          <a:p>
            <a:pPr algn="l">
              <a:lnSpc>
                <a:spcPts val="4374"/>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61B70">
                <a:alpha val="100000"/>
              </a:srgbClr>
            </a:gs>
            <a:gs pos="100000">
              <a:srgbClr val="000000">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242831">
            <a:off x="-183072" y="9034920"/>
            <a:ext cx="19149891" cy="6989710"/>
          </a:xfrm>
          <a:custGeom>
            <a:avLst/>
            <a:gdLst/>
            <a:ahLst/>
            <a:cxnLst/>
            <a:rect r="r" b="b" t="t" l="l"/>
            <a:pathLst>
              <a:path h="6989710" w="19149891">
                <a:moveTo>
                  <a:pt x="0" y="0"/>
                </a:moveTo>
                <a:lnTo>
                  <a:pt x="19149891" y="0"/>
                </a:lnTo>
                <a:lnTo>
                  <a:pt x="19149891" y="6989711"/>
                </a:lnTo>
                <a:lnTo>
                  <a:pt x="0" y="6989711"/>
                </a:lnTo>
                <a:lnTo>
                  <a:pt x="0" y="0"/>
                </a:lnTo>
                <a:close/>
              </a:path>
            </a:pathLst>
          </a:custGeom>
          <a:blipFill>
            <a:blip r:embed="rId2">
              <a:alphaModFix amt="80000"/>
            </a:blip>
            <a:stretch>
              <a:fillRect l="0" t="0" r="0" b="0"/>
            </a:stretch>
          </a:blipFill>
        </p:spPr>
      </p:sp>
      <p:sp>
        <p:nvSpPr>
          <p:cNvPr name="Freeform 3" id="3"/>
          <p:cNvSpPr/>
          <p:nvPr/>
        </p:nvSpPr>
        <p:spPr>
          <a:xfrm flipH="false" flipV="true" rot="-438710">
            <a:off x="-4529841" y="-5573153"/>
            <a:ext cx="19149891" cy="6989710"/>
          </a:xfrm>
          <a:custGeom>
            <a:avLst/>
            <a:gdLst/>
            <a:ahLst/>
            <a:cxnLst/>
            <a:rect r="r" b="b" t="t" l="l"/>
            <a:pathLst>
              <a:path h="6989710" w="19149891">
                <a:moveTo>
                  <a:pt x="0" y="6989710"/>
                </a:moveTo>
                <a:lnTo>
                  <a:pt x="19149891" y="6989710"/>
                </a:lnTo>
                <a:lnTo>
                  <a:pt x="19149891" y="0"/>
                </a:lnTo>
                <a:lnTo>
                  <a:pt x="0" y="0"/>
                </a:lnTo>
                <a:lnTo>
                  <a:pt x="0" y="6989710"/>
                </a:lnTo>
                <a:close/>
              </a:path>
            </a:pathLst>
          </a:custGeom>
          <a:blipFill>
            <a:blip r:embed="rId2">
              <a:alphaModFix amt="80000"/>
            </a:blip>
            <a:stretch>
              <a:fillRect l="0" t="0" r="0" b="0"/>
            </a:stretch>
          </a:blipFill>
        </p:spPr>
      </p:sp>
      <p:grpSp>
        <p:nvGrpSpPr>
          <p:cNvPr name="Group 4" id="4"/>
          <p:cNvGrpSpPr>
            <a:grpSpLocks noChangeAspect="true"/>
          </p:cNvGrpSpPr>
          <p:nvPr/>
        </p:nvGrpSpPr>
        <p:grpSpPr>
          <a:xfrm rot="0">
            <a:off x="13475182" y="672282"/>
            <a:ext cx="2995862" cy="2995862"/>
            <a:chOff x="0" y="0"/>
            <a:chExt cx="14840029" cy="14840029"/>
          </a:xfrm>
        </p:grpSpPr>
        <p:sp>
          <p:nvSpPr>
            <p:cNvPr name="Freeform 5" id="5"/>
            <p:cNvSpPr/>
            <p:nvPr/>
          </p:nvSpPr>
          <p:spPr>
            <a:xfrm flipH="false" flipV="false" rot="0">
              <a:off x="-366471" y="-11891"/>
              <a:ext cx="15572971" cy="14863810"/>
            </a:xfrm>
            <a:custGeom>
              <a:avLst/>
              <a:gdLst/>
              <a:ahLst/>
              <a:cxnLst/>
              <a:rect r="r" b="b" t="t" l="l"/>
              <a:pathLst>
                <a:path h="14863810" w="15572971">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solidFill>
              <a:srgbClr val="36E9FD"/>
            </a:solidFill>
          </p:spPr>
        </p:sp>
        <p:sp>
          <p:nvSpPr>
            <p:cNvPr name="Freeform 6" id="6"/>
            <p:cNvSpPr/>
            <p:nvPr/>
          </p:nvSpPr>
          <p:spPr>
            <a:xfrm flipH="false" flipV="false" rot="0">
              <a:off x="-156193" y="188812"/>
              <a:ext cx="15152415" cy="14462405"/>
            </a:xfrm>
            <a:custGeom>
              <a:avLst/>
              <a:gdLst/>
              <a:ahLst/>
              <a:cxnLst/>
              <a:rect r="r" b="b" t="t" l="l"/>
              <a:pathLst>
                <a:path h="14462405" w="1515241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FFFFFF"/>
            </a:solidFill>
          </p:spPr>
        </p:sp>
        <p:sp>
          <p:nvSpPr>
            <p:cNvPr name="Freeform 7" id="7"/>
            <p:cNvSpPr/>
            <p:nvPr/>
          </p:nvSpPr>
          <p:spPr>
            <a:xfrm flipH="false" flipV="false" rot="0">
              <a:off x="223301" y="551024"/>
              <a:ext cx="14393427" cy="13737979"/>
            </a:xfrm>
            <a:custGeom>
              <a:avLst/>
              <a:gdLst/>
              <a:ahLst/>
              <a:cxnLst/>
              <a:rect r="r" b="b" t="t" l="l"/>
              <a:pathLst>
                <a:path h="13737979" w="14393427">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3"/>
              <a:stretch>
                <a:fillRect l="223" t="0" r="223" b="0"/>
              </a:stretch>
            </a:blipFill>
          </p:spPr>
        </p:sp>
      </p:grpSp>
      <p:grpSp>
        <p:nvGrpSpPr>
          <p:cNvPr name="Group 8" id="8"/>
          <p:cNvGrpSpPr>
            <a:grpSpLocks noChangeAspect="true"/>
          </p:cNvGrpSpPr>
          <p:nvPr/>
        </p:nvGrpSpPr>
        <p:grpSpPr>
          <a:xfrm rot="0">
            <a:off x="13475182" y="5106508"/>
            <a:ext cx="2995862" cy="2995862"/>
            <a:chOff x="0" y="0"/>
            <a:chExt cx="14840029" cy="14840029"/>
          </a:xfrm>
        </p:grpSpPr>
        <p:sp>
          <p:nvSpPr>
            <p:cNvPr name="Freeform 9" id="9"/>
            <p:cNvSpPr/>
            <p:nvPr/>
          </p:nvSpPr>
          <p:spPr>
            <a:xfrm flipH="false" flipV="false" rot="0">
              <a:off x="-366471" y="-11891"/>
              <a:ext cx="15572971" cy="14863810"/>
            </a:xfrm>
            <a:custGeom>
              <a:avLst/>
              <a:gdLst/>
              <a:ahLst/>
              <a:cxnLst/>
              <a:rect r="r" b="b" t="t" l="l"/>
              <a:pathLst>
                <a:path h="14863810" w="15572971">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solidFill>
              <a:srgbClr val="36E9FD"/>
            </a:solidFill>
          </p:spPr>
        </p:sp>
        <p:sp>
          <p:nvSpPr>
            <p:cNvPr name="Freeform 10" id="10"/>
            <p:cNvSpPr/>
            <p:nvPr/>
          </p:nvSpPr>
          <p:spPr>
            <a:xfrm flipH="false" flipV="false" rot="0">
              <a:off x="-156193" y="188812"/>
              <a:ext cx="15152415" cy="14462405"/>
            </a:xfrm>
            <a:custGeom>
              <a:avLst/>
              <a:gdLst/>
              <a:ahLst/>
              <a:cxnLst/>
              <a:rect r="r" b="b" t="t" l="l"/>
              <a:pathLst>
                <a:path h="14462405" w="1515241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FFFFFF"/>
            </a:solidFill>
          </p:spPr>
        </p:sp>
        <p:sp>
          <p:nvSpPr>
            <p:cNvPr name="Freeform 11" id="11"/>
            <p:cNvSpPr/>
            <p:nvPr/>
          </p:nvSpPr>
          <p:spPr>
            <a:xfrm flipH="false" flipV="false" rot="0">
              <a:off x="223301" y="551024"/>
              <a:ext cx="14393427" cy="13737979"/>
            </a:xfrm>
            <a:custGeom>
              <a:avLst/>
              <a:gdLst/>
              <a:ahLst/>
              <a:cxnLst/>
              <a:rect r="r" b="b" t="t" l="l"/>
              <a:pathLst>
                <a:path h="13737979" w="14393427">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4"/>
              <a:stretch>
                <a:fillRect l="223" t="0" r="223" b="0"/>
              </a:stretch>
            </a:blipFill>
          </p:spPr>
        </p:sp>
      </p:grpSp>
      <p:grpSp>
        <p:nvGrpSpPr>
          <p:cNvPr name="Group 12" id="12"/>
          <p:cNvGrpSpPr/>
          <p:nvPr/>
        </p:nvGrpSpPr>
        <p:grpSpPr>
          <a:xfrm rot="0">
            <a:off x="1028700" y="5641616"/>
            <a:ext cx="5321676" cy="3270506"/>
            <a:chOff x="0" y="0"/>
            <a:chExt cx="1771930" cy="1088963"/>
          </a:xfrm>
        </p:grpSpPr>
        <p:sp>
          <p:nvSpPr>
            <p:cNvPr name="Freeform 13" id="13"/>
            <p:cNvSpPr/>
            <p:nvPr/>
          </p:nvSpPr>
          <p:spPr>
            <a:xfrm flipH="false" flipV="false" rot="0">
              <a:off x="0" y="0"/>
              <a:ext cx="1771930" cy="1088963"/>
            </a:xfrm>
            <a:custGeom>
              <a:avLst/>
              <a:gdLst/>
              <a:ahLst/>
              <a:cxnLst/>
              <a:rect r="r" b="b" t="t" l="l"/>
              <a:pathLst>
                <a:path h="1088963" w="1771930">
                  <a:moveTo>
                    <a:pt x="43644" y="0"/>
                  </a:moveTo>
                  <a:lnTo>
                    <a:pt x="1728286" y="0"/>
                  </a:lnTo>
                  <a:cubicBezTo>
                    <a:pt x="1739861" y="0"/>
                    <a:pt x="1750962" y="4598"/>
                    <a:pt x="1759147" y="12783"/>
                  </a:cubicBezTo>
                  <a:cubicBezTo>
                    <a:pt x="1767332" y="20968"/>
                    <a:pt x="1771930" y="32069"/>
                    <a:pt x="1771930" y="43644"/>
                  </a:cubicBezTo>
                  <a:lnTo>
                    <a:pt x="1771930" y="1045319"/>
                  </a:lnTo>
                  <a:cubicBezTo>
                    <a:pt x="1771930" y="1056894"/>
                    <a:pt x="1767332" y="1067995"/>
                    <a:pt x="1759147" y="1076180"/>
                  </a:cubicBezTo>
                  <a:cubicBezTo>
                    <a:pt x="1750962" y="1084365"/>
                    <a:pt x="1739861" y="1088963"/>
                    <a:pt x="1728286" y="1088963"/>
                  </a:cubicBezTo>
                  <a:lnTo>
                    <a:pt x="43644" y="1088963"/>
                  </a:lnTo>
                  <a:cubicBezTo>
                    <a:pt x="32069" y="1088963"/>
                    <a:pt x="20968" y="1084365"/>
                    <a:pt x="12783" y="1076180"/>
                  </a:cubicBezTo>
                  <a:cubicBezTo>
                    <a:pt x="4598" y="1067995"/>
                    <a:pt x="0" y="1056894"/>
                    <a:pt x="0" y="1045319"/>
                  </a:cubicBezTo>
                  <a:lnTo>
                    <a:pt x="0" y="43644"/>
                  </a:lnTo>
                  <a:cubicBezTo>
                    <a:pt x="0" y="32069"/>
                    <a:pt x="4598" y="20968"/>
                    <a:pt x="12783" y="12783"/>
                  </a:cubicBezTo>
                  <a:cubicBezTo>
                    <a:pt x="20968" y="4598"/>
                    <a:pt x="32069" y="0"/>
                    <a:pt x="43644" y="0"/>
                  </a:cubicBezTo>
                  <a:close/>
                </a:path>
              </a:pathLst>
            </a:custGeom>
            <a:solidFill>
              <a:srgbClr val="0097B2">
                <a:alpha val="34902"/>
              </a:srgbClr>
            </a:solidFill>
          </p:spPr>
        </p:sp>
        <p:sp>
          <p:nvSpPr>
            <p:cNvPr name="TextBox 14" id="14"/>
            <p:cNvSpPr txBox="true"/>
            <p:nvPr/>
          </p:nvSpPr>
          <p:spPr>
            <a:xfrm>
              <a:off x="0" y="-76200"/>
              <a:ext cx="1771930" cy="1165163"/>
            </a:xfrm>
            <a:prstGeom prst="rect">
              <a:avLst/>
            </a:prstGeom>
          </p:spPr>
          <p:txBody>
            <a:bodyPr anchor="ctr" rtlCol="false" tIns="50800" lIns="50800" bIns="50800" rIns="50800"/>
            <a:lstStyle/>
            <a:p>
              <a:pPr algn="ctr">
                <a:lnSpc>
                  <a:spcPts val="3860"/>
                </a:lnSpc>
              </a:pPr>
            </a:p>
          </p:txBody>
        </p:sp>
      </p:grpSp>
      <p:sp>
        <p:nvSpPr>
          <p:cNvPr name="Freeform 15" id="15"/>
          <p:cNvSpPr/>
          <p:nvPr/>
        </p:nvSpPr>
        <p:spPr>
          <a:xfrm flipH="false" flipV="false" rot="0">
            <a:off x="1123456" y="5710772"/>
            <a:ext cx="5137430" cy="3117772"/>
          </a:xfrm>
          <a:custGeom>
            <a:avLst/>
            <a:gdLst/>
            <a:ahLst/>
            <a:cxnLst/>
            <a:rect r="r" b="b" t="t" l="l"/>
            <a:pathLst>
              <a:path h="3117772" w="5137430">
                <a:moveTo>
                  <a:pt x="0" y="0"/>
                </a:moveTo>
                <a:lnTo>
                  <a:pt x="5137430" y="0"/>
                </a:lnTo>
                <a:lnTo>
                  <a:pt x="5137430" y="3117771"/>
                </a:lnTo>
                <a:lnTo>
                  <a:pt x="0" y="3117771"/>
                </a:lnTo>
                <a:lnTo>
                  <a:pt x="0" y="0"/>
                </a:lnTo>
                <a:close/>
              </a:path>
            </a:pathLst>
          </a:custGeom>
          <a:blipFill>
            <a:blip r:embed="rId5"/>
            <a:stretch>
              <a:fillRect l="0" t="0" r="0" b="-32370"/>
            </a:stretch>
          </a:blipFill>
        </p:spPr>
      </p:sp>
      <p:sp>
        <p:nvSpPr>
          <p:cNvPr name="TextBox 16" id="16"/>
          <p:cNvSpPr txBox="true"/>
          <p:nvPr/>
        </p:nvSpPr>
        <p:spPr>
          <a:xfrm rot="0">
            <a:off x="1028700" y="1145423"/>
            <a:ext cx="9965350" cy="2129545"/>
          </a:xfrm>
          <a:prstGeom prst="rect">
            <a:avLst/>
          </a:prstGeom>
        </p:spPr>
        <p:txBody>
          <a:bodyPr anchor="t" rtlCol="false" tIns="0" lIns="0" bIns="0" rIns="0">
            <a:spAutoFit/>
          </a:bodyPr>
          <a:lstStyle/>
          <a:p>
            <a:pPr algn="l">
              <a:lnSpc>
                <a:spcPts val="8143"/>
              </a:lnSpc>
            </a:pPr>
            <a:r>
              <a:rPr lang="en-US" sz="8572" b="true">
                <a:solidFill>
                  <a:srgbClr val="36E9FD"/>
                </a:solidFill>
                <a:latin typeface="Montserrat Semi-Bold"/>
                <a:ea typeface="Montserrat Semi-Bold"/>
                <a:cs typeface="Montserrat Semi-Bold"/>
                <a:sym typeface="Montserrat Semi-Bold"/>
              </a:rPr>
              <a:t>Results &amp; Performance</a:t>
            </a:r>
          </a:p>
        </p:txBody>
      </p:sp>
      <p:sp>
        <p:nvSpPr>
          <p:cNvPr name="TextBox 17" id="17"/>
          <p:cNvSpPr txBox="true"/>
          <p:nvPr/>
        </p:nvSpPr>
        <p:spPr>
          <a:xfrm rot="0">
            <a:off x="1028700" y="3498025"/>
            <a:ext cx="9705631" cy="1540247"/>
          </a:xfrm>
          <a:prstGeom prst="rect">
            <a:avLst/>
          </a:prstGeom>
        </p:spPr>
        <p:txBody>
          <a:bodyPr anchor="t" rtlCol="false" tIns="0" lIns="0" bIns="0" rIns="0">
            <a:spAutoFit/>
          </a:bodyPr>
          <a:lstStyle/>
          <a:p>
            <a:pPr algn="l">
              <a:lnSpc>
                <a:spcPts val="4610"/>
              </a:lnSpc>
            </a:pPr>
            <a:r>
              <a:rPr lang="en-US" sz="3073" i="true" b="true">
                <a:solidFill>
                  <a:srgbClr val="FFFFFF"/>
                </a:solidFill>
                <a:latin typeface="Montserrat Bold Italics"/>
                <a:ea typeface="Montserrat Bold Italics"/>
                <a:cs typeface="Montserrat Bold Italics"/>
                <a:sym typeface="Montserrat Bold Italics"/>
              </a:rPr>
              <a:t>Model Evaluation</a:t>
            </a:r>
          </a:p>
          <a:p>
            <a:pPr algn="l" marL="555638" indent="-277819" lvl="1">
              <a:lnSpc>
                <a:spcPts val="3860"/>
              </a:lnSpc>
              <a:buFont typeface="Arial"/>
              <a:buChar char="•"/>
            </a:pPr>
            <a:r>
              <a:rPr lang="en-US" sz="2573" i="true">
                <a:solidFill>
                  <a:srgbClr val="FFFFFF"/>
                </a:solidFill>
                <a:latin typeface="Montserrat Italics"/>
                <a:ea typeface="Montserrat Italics"/>
                <a:cs typeface="Montserrat Italics"/>
                <a:sym typeface="Montserrat Italics"/>
              </a:rPr>
              <a:t>Accuracy: 93% ~ 94%</a:t>
            </a:r>
          </a:p>
          <a:p>
            <a:pPr algn="l" marL="555638" indent="-277819" lvl="1">
              <a:lnSpc>
                <a:spcPts val="3860"/>
              </a:lnSpc>
              <a:buFont typeface="Arial"/>
              <a:buChar char="•"/>
            </a:pPr>
            <a:r>
              <a:rPr lang="en-US" sz="2573" i="true">
                <a:solidFill>
                  <a:srgbClr val="FFFFFF"/>
                </a:solidFill>
                <a:latin typeface="Montserrat Italics"/>
                <a:ea typeface="Montserrat Italics"/>
                <a:cs typeface="Montserrat Italics"/>
                <a:sym typeface="Montserrat Italics"/>
              </a:rPr>
              <a:t>Sample Predictions:</a:t>
            </a:r>
          </a:p>
        </p:txBody>
      </p:sp>
      <p:sp>
        <p:nvSpPr>
          <p:cNvPr name="TextBox 18" id="18"/>
          <p:cNvSpPr txBox="true"/>
          <p:nvPr/>
        </p:nvSpPr>
        <p:spPr>
          <a:xfrm rot="0">
            <a:off x="12686926" y="3802825"/>
            <a:ext cx="4572374" cy="949696"/>
          </a:xfrm>
          <a:prstGeom prst="rect">
            <a:avLst/>
          </a:prstGeom>
        </p:spPr>
        <p:txBody>
          <a:bodyPr anchor="t" rtlCol="false" tIns="0" lIns="0" bIns="0" rIns="0">
            <a:spAutoFit/>
          </a:bodyPr>
          <a:lstStyle/>
          <a:p>
            <a:pPr algn="ctr">
              <a:lnSpc>
                <a:spcPts val="3860"/>
              </a:lnSpc>
            </a:pPr>
            <a:r>
              <a:rPr lang="en-US" sz="2573" i="true">
                <a:solidFill>
                  <a:srgbClr val="FFFFFF"/>
                </a:solidFill>
                <a:latin typeface="Raleway Italics"/>
                <a:ea typeface="Raleway Italics"/>
                <a:cs typeface="Raleway Italics"/>
                <a:sym typeface="Raleway Italics"/>
              </a:rPr>
              <a:t>File name: Te-glTr_0003.jpg</a:t>
            </a:r>
          </a:p>
          <a:p>
            <a:pPr algn="ctr">
              <a:lnSpc>
                <a:spcPts val="3860"/>
              </a:lnSpc>
            </a:pPr>
            <a:r>
              <a:rPr lang="en-US" sz="2573" i="true">
                <a:solidFill>
                  <a:srgbClr val="FFFFFF"/>
                </a:solidFill>
                <a:latin typeface="Raleway Italics"/>
                <a:ea typeface="Raleway Italics"/>
                <a:cs typeface="Raleway Italics"/>
                <a:sym typeface="Raleway Italics"/>
              </a:rPr>
              <a:t>Prediction: glioma</a:t>
            </a:r>
          </a:p>
        </p:txBody>
      </p:sp>
      <p:sp>
        <p:nvSpPr>
          <p:cNvPr name="TextBox 19" id="19"/>
          <p:cNvSpPr txBox="true"/>
          <p:nvPr/>
        </p:nvSpPr>
        <p:spPr>
          <a:xfrm rot="0">
            <a:off x="12686926" y="8237051"/>
            <a:ext cx="4572374" cy="949696"/>
          </a:xfrm>
          <a:prstGeom prst="rect">
            <a:avLst/>
          </a:prstGeom>
        </p:spPr>
        <p:txBody>
          <a:bodyPr anchor="t" rtlCol="false" tIns="0" lIns="0" bIns="0" rIns="0">
            <a:spAutoFit/>
          </a:bodyPr>
          <a:lstStyle/>
          <a:p>
            <a:pPr algn="ctr">
              <a:lnSpc>
                <a:spcPts val="3860"/>
              </a:lnSpc>
            </a:pPr>
            <a:r>
              <a:rPr lang="en-US" sz="2573" i="true">
                <a:solidFill>
                  <a:srgbClr val="FFFFFF"/>
                </a:solidFill>
                <a:latin typeface="Raleway Italics"/>
                <a:ea typeface="Raleway Italics"/>
                <a:cs typeface="Raleway Italics"/>
                <a:sym typeface="Raleway Italics"/>
              </a:rPr>
              <a:t>File name: Te-pi_0295.jpg</a:t>
            </a:r>
          </a:p>
          <a:p>
            <a:pPr algn="ctr">
              <a:lnSpc>
                <a:spcPts val="3860"/>
              </a:lnSpc>
            </a:pPr>
            <a:r>
              <a:rPr lang="en-US" sz="2573" i="true">
                <a:solidFill>
                  <a:srgbClr val="FFFFFF"/>
                </a:solidFill>
                <a:latin typeface="Raleway Italics"/>
                <a:ea typeface="Raleway Italics"/>
                <a:cs typeface="Raleway Italics"/>
                <a:sym typeface="Raleway Italics"/>
              </a:rPr>
              <a:t>Prediction: pituitary</a:t>
            </a:r>
          </a:p>
        </p:txBody>
      </p:sp>
      <p:grpSp>
        <p:nvGrpSpPr>
          <p:cNvPr name="Group 20" id="20"/>
          <p:cNvGrpSpPr/>
          <p:nvPr/>
        </p:nvGrpSpPr>
        <p:grpSpPr>
          <a:xfrm rot="0">
            <a:off x="6731035" y="5641616"/>
            <a:ext cx="5321676" cy="3270506"/>
            <a:chOff x="0" y="0"/>
            <a:chExt cx="1771930" cy="1088963"/>
          </a:xfrm>
        </p:grpSpPr>
        <p:sp>
          <p:nvSpPr>
            <p:cNvPr name="Freeform 21" id="21"/>
            <p:cNvSpPr/>
            <p:nvPr/>
          </p:nvSpPr>
          <p:spPr>
            <a:xfrm flipH="false" flipV="false" rot="0">
              <a:off x="0" y="0"/>
              <a:ext cx="1771930" cy="1088963"/>
            </a:xfrm>
            <a:custGeom>
              <a:avLst/>
              <a:gdLst/>
              <a:ahLst/>
              <a:cxnLst/>
              <a:rect r="r" b="b" t="t" l="l"/>
              <a:pathLst>
                <a:path h="1088963" w="1771930">
                  <a:moveTo>
                    <a:pt x="43644" y="0"/>
                  </a:moveTo>
                  <a:lnTo>
                    <a:pt x="1728286" y="0"/>
                  </a:lnTo>
                  <a:cubicBezTo>
                    <a:pt x="1739861" y="0"/>
                    <a:pt x="1750962" y="4598"/>
                    <a:pt x="1759147" y="12783"/>
                  </a:cubicBezTo>
                  <a:cubicBezTo>
                    <a:pt x="1767332" y="20968"/>
                    <a:pt x="1771930" y="32069"/>
                    <a:pt x="1771930" y="43644"/>
                  </a:cubicBezTo>
                  <a:lnTo>
                    <a:pt x="1771930" y="1045319"/>
                  </a:lnTo>
                  <a:cubicBezTo>
                    <a:pt x="1771930" y="1056894"/>
                    <a:pt x="1767332" y="1067995"/>
                    <a:pt x="1759147" y="1076180"/>
                  </a:cubicBezTo>
                  <a:cubicBezTo>
                    <a:pt x="1750962" y="1084365"/>
                    <a:pt x="1739861" y="1088963"/>
                    <a:pt x="1728286" y="1088963"/>
                  </a:cubicBezTo>
                  <a:lnTo>
                    <a:pt x="43644" y="1088963"/>
                  </a:lnTo>
                  <a:cubicBezTo>
                    <a:pt x="32069" y="1088963"/>
                    <a:pt x="20968" y="1084365"/>
                    <a:pt x="12783" y="1076180"/>
                  </a:cubicBezTo>
                  <a:cubicBezTo>
                    <a:pt x="4598" y="1067995"/>
                    <a:pt x="0" y="1056894"/>
                    <a:pt x="0" y="1045319"/>
                  </a:cubicBezTo>
                  <a:lnTo>
                    <a:pt x="0" y="43644"/>
                  </a:lnTo>
                  <a:cubicBezTo>
                    <a:pt x="0" y="32069"/>
                    <a:pt x="4598" y="20968"/>
                    <a:pt x="12783" y="12783"/>
                  </a:cubicBezTo>
                  <a:cubicBezTo>
                    <a:pt x="20968" y="4598"/>
                    <a:pt x="32069" y="0"/>
                    <a:pt x="43644" y="0"/>
                  </a:cubicBezTo>
                  <a:close/>
                </a:path>
              </a:pathLst>
            </a:custGeom>
            <a:solidFill>
              <a:srgbClr val="0097B2">
                <a:alpha val="34902"/>
              </a:srgbClr>
            </a:solidFill>
          </p:spPr>
        </p:sp>
        <p:sp>
          <p:nvSpPr>
            <p:cNvPr name="TextBox 22" id="22"/>
            <p:cNvSpPr txBox="true"/>
            <p:nvPr/>
          </p:nvSpPr>
          <p:spPr>
            <a:xfrm>
              <a:off x="0" y="-76200"/>
              <a:ext cx="1771930" cy="1165163"/>
            </a:xfrm>
            <a:prstGeom prst="rect">
              <a:avLst/>
            </a:prstGeom>
          </p:spPr>
          <p:txBody>
            <a:bodyPr anchor="ctr" rtlCol="false" tIns="50800" lIns="50800" bIns="50800" rIns="50800"/>
            <a:lstStyle/>
            <a:p>
              <a:pPr algn="ctr">
                <a:lnSpc>
                  <a:spcPts val="3860"/>
                </a:lnSpc>
              </a:pPr>
            </a:p>
          </p:txBody>
        </p:sp>
      </p:grpSp>
      <p:sp>
        <p:nvSpPr>
          <p:cNvPr name="Freeform 23" id="23"/>
          <p:cNvSpPr/>
          <p:nvPr/>
        </p:nvSpPr>
        <p:spPr>
          <a:xfrm flipH="false" flipV="false" rot="0">
            <a:off x="6825791" y="5781257"/>
            <a:ext cx="5137430" cy="3003472"/>
          </a:xfrm>
          <a:custGeom>
            <a:avLst/>
            <a:gdLst/>
            <a:ahLst/>
            <a:cxnLst/>
            <a:rect r="r" b="b" t="t" l="l"/>
            <a:pathLst>
              <a:path h="3003472" w="5137430">
                <a:moveTo>
                  <a:pt x="0" y="0"/>
                </a:moveTo>
                <a:lnTo>
                  <a:pt x="5137430" y="0"/>
                </a:lnTo>
                <a:lnTo>
                  <a:pt x="5137430" y="3003471"/>
                </a:lnTo>
                <a:lnTo>
                  <a:pt x="0" y="3003471"/>
                </a:lnTo>
                <a:lnTo>
                  <a:pt x="0" y="0"/>
                </a:lnTo>
                <a:close/>
              </a:path>
            </a:pathLst>
          </a:custGeom>
          <a:blipFill>
            <a:blip r:embed="rId6"/>
            <a:stretch>
              <a:fillRect l="0" t="-11533" r="0" b="-10645"/>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32A64">
                <a:alpha val="100000"/>
              </a:srgbClr>
            </a:gs>
            <a:gs pos="100000">
              <a:srgbClr val="414C94">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1314761">
            <a:off x="5680419" y="6404287"/>
            <a:ext cx="19149891" cy="6989710"/>
          </a:xfrm>
          <a:custGeom>
            <a:avLst/>
            <a:gdLst/>
            <a:ahLst/>
            <a:cxnLst/>
            <a:rect r="r" b="b" t="t" l="l"/>
            <a:pathLst>
              <a:path h="6989710" w="19149891">
                <a:moveTo>
                  <a:pt x="0" y="0"/>
                </a:moveTo>
                <a:lnTo>
                  <a:pt x="19149891" y="0"/>
                </a:lnTo>
                <a:lnTo>
                  <a:pt x="19149891" y="6989711"/>
                </a:lnTo>
                <a:lnTo>
                  <a:pt x="0" y="6989711"/>
                </a:lnTo>
                <a:lnTo>
                  <a:pt x="0" y="0"/>
                </a:lnTo>
                <a:close/>
              </a:path>
            </a:pathLst>
          </a:custGeom>
          <a:blipFill>
            <a:blip r:embed="rId2">
              <a:alphaModFix amt="80000"/>
            </a:blip>
            <a:stretch>
              <a:fillRect l="0" t="0" r="0" b="0"/>
            </a:stretch>
          </a:blipFill>
        </p:spPr>
      </p:sp>
      <p:sp>
        <p:nvSpPr>
          <p:cNvPr name="Freeform 3" id="3"/>
          <p:cNvSpPr/>
          <p:nvPr/>
        </p:nvSpPr>
        <p:spPr>
          <a:xfrm flipH="false" flipV="true" rot="1572293">
            <a:off x="3960635" y="-5525403"/>
            <a:ext cx="19149891" cy="6989710"/>
          </a:xfrm>
          <a:custGeom>
            <a:avLst/>
            <a:gdLst/>
            <a:ahLst/>
            <a:cxnLst/>
            <a:rect r="r" b="b" t="t" l="l"/>
            <a:pathLst>
              <a:path h="6989710" w="19149891">
                <a:moveTo>
                  <a:pt x="0" y="6989711"/>
                </a:moveTo>
                <a:lnTo>
                  <a:pt x="19149891" y="6989711"/>
                </a:lnTo>
                <a:lnTo>
                  <a:pt x="19149891" y="0"/>
                </a:lnTo>
                <a:lnTo>
                  <a:pt x="0" y="0"/>
                </a:lnTo>
                <a:lnTo>
                  <a:pt x="0" y="6989711"/>
                </a:lnTo>
                <a:close/>
              </a:path>
            </a:pathLst>
          </a:custGeom>
          <a:blipFill>
            <a:blip r:embed="rId2">
              <a:alphaModFix amt="80000"/>
            </a:blip>
            <a:stretch>
              <a:fillRect l="0" t="0" r="0" b="0"/>
            </a:stretch>
          </a:blipFill>
        </p:spPr>
      </p:sp>
      <p:sp>
        <p:nvSpPr>
          <p:cNvPr name="TextBox 4" id="4"/>
          <p:cNvSpPr txBox="true"/>
          <p:nvPr/>
        </p:nvSpPr>
        <p:spPr>
          <a:xfrm rot="0">
            <a:off x="4555863" y="2633063"/>
            <a:ext cx="9176274" cy="1100845"/>
          </a:xfrm>
          <a:prstGeom prst="rect">
            <a:avLst/>
          </a:prstGeom>
        </p:spPr>
        <p:txBody>
          <a:bodyPr anchor="t" rtlCol="false" tIns="0" lIns="0" bIns="0" rIns="0">
            <a:spAutoFit/>
          </a:bodyPr>
          <a:lstStyle/>
          <a:p>
            <a:pPr algn="ctr">
              <a:lnSpc>
                <a:spcPts val="8143"/>
              </a:lnSpc>
            </a:pPr>
            <a:r>
              <a:rPr lang="en-US" sz="8572" b="true">
                <a:solidFill>
                  <a:srgbClr val="FFFFFF"/>
                </a:solidFill>
                <a:latin typeface="Montserrat Semi-Bold"/>
                <a:ea typeface="Montserrat Semi-Bold"/>
                <a:cs typeface="Montserrat Semi-Bold"/>
                <a:sym typeface="Montserrat Semi-Bold"/>
              </a:rPr>
              <a:t>Conclusion</a:t>
            </a:r>
          </a:p>
        </p:txBody>
      </p:sp>
      <p:sp>
        <p:nvSpPr>
          <p:cNvPr name="TextBox 5" id="5"/>
          <p:cNvSpPr txBox="true"/>
          <p:nvPr/>
        </p:nvSpPr>
        <p:spPr>
          <a:xfrm rot="0">
            <a:off x="1028700" y="4203634"/>
            <a:ext cx="16230600" cy="3473822"/>
          </a:xfrm>
          <a:prstGeom prst="rect">
            <a:avLst/>
          </a:prstGeom>
        </p:spPr>
        <p:txBody>
          <a:bodyPr anchor="t" rtlCol="false" tIns="0" lIns="0" bIns="0" rIns="0">
            <a:spAutoFit/>
          </a:bodyPr>
          <a:lstStyle/>
          <a:p>
            <a:pPr algn="ctr">
              <a:lnSpc>
                <a:spcPts val="4610"/>
              </a:lnSpc>
            </a:pPr>
            <a:r>
              <a:rPr lang="en-US" sz="3073" i="true">
                <a:solidFill>
                  <a:srgbClr val="FFFFFF"/>
                </a:solidFill>
                <a:latin typeface="Raleway Italics"/>
                <a:ea typeface="Raleway Italics"/>
                <a:cs typeface="Raleway Italics"/>
                <a:sym typeface="Raleway Italics"/>
              </a:rPr>
              <a:t>The Brain Tumor Classification proje</a:t>
            </a:r>
            <a:r>
              <a:rPr lang="en-US" sz="3073" i="true">
                <a:solidFill>
                  <a:srgbClr val="FFFFFF"/>
                </a:solidFill>
                <a:latin typeface="Raleway Italics"/>
                <a:ea typeface="Raleway Italics"/>
                <a:cs typeface="Raleway Italics"/>
                <a:sym typeface="Raleway Italics"/>
              </a:rPr>
              <a:t>ct demon</a:t>
            </a:r>
            <a:r>
              <a:rPr lang="en-US" sz="3073" i="true">
                <a:solidFill>
                  <a:srgbClr val="FFFFFF"/>
                </a:solidFill>
                <a:latin typeface="Raleway Italics"/>
                <a:ea typeface="Raleway Italics"/>
                <a:cs typeface="Raleway Italics"/>
                <a:sym typeface="Raleway Italics"/>
              </a:rPr>
              <a:t>strates the power of machine learning in medical imaging, providing a fast and automated way to detect and categorize brain tumors from MRI scans. By leveraging Random Forests, we achieved a structured approach to classifying gliomas, meningiomas, pituitary tumors, and healthy scans, paving the way for AI-assisted diagnostics.</a:t>
            </a:r>
          </a:p>
          <a:p>
            <a:pPr algn="ctr">
              <a:lnSpc>
                <a:spcPts val="4610"/>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32A64">
                <a:alpha val="100000"/>
              </a:srgbClr>
            </a:gs>
            <a:gs pos="100000">
              <a:srgbClr val="414C94">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true" rot="-1161320">
            <a:off x="-5537192" y="-4329620"/>
            <a:ext cx="19149891" cy="6989710"/>
          </a:xfrm>
          <a:custGeom>
            <a:avLst/>
            <a:gdLst/>
            <a:ahLst/>
            <a:cxnLst/>
            <a:rect r="r" b="b" t="t" l="l"/>
            <a:pathLst>
              <a:path h="6989710" w="19149891">
                <a:moveTo>
                  <a:pt x="0" y="6989710"/>
                </a:moveTo>
                <a:lnTo>
                  <a:pt x="19149891" y="6989710"/>
                </a:lnTo>
                <a:lnTo>
                  <a:pt x="19149891" y="0"/>
                </a:lnTo>
                <a:lnTo>
                  <a:pt x="0" y="0"/>
                </a:lnTo>
                <a:lnTo>
                  <a:pt x="0" y="6989710"/>
                </a:lnTo>
                <a:close/>
              </a:path>
            </a:pathLst>
          </a:custGeom>
          <a:blipFill>
            <a:blip r:embed="rId2">
              <a:alphaModFix amt="80000"/>
            </a:blip>
            <a:stretch>
              <a:fillRect l="0" t="0" r="0" b="0"/>
            </a:stretch>
          </a:blipFill>
        </p:spPr>
      </p:sp>
      <p:sp>
        <p:nvSpPr>
          <p:cNvPr name="TextBox 3" id="3"/>
          <p:cNvSpPr txBox="true"/>
          <p:nvPr/>
        </p:nvSpPr>
        <p:spPr>
          <a:xfrm rot="0">
            <a:off x="4555863" y="4411280"/>
            <a:ext cx="9176274" cy="1100845"/>
          </a:xfrm>
          <a:prstGeom prst="rect">
            <a:avLst/>
          </a:prstGeom>
        </p:spPr>
        <p:txBody>
          <a:bodyPr anchor="t" rtlCol="false" tIns="0" lIns="0" bIns="0" rIns="0">
            <a:spAutoFit/>
          </a:bodyPr>
          <a:lstStyle/>
          <a:p>
            <a:pPr algn="ctr">
              <a:lnSpc>
                <a:spcPts val="8143"/>
              </a:lnSpc>
            </a:pPr>
            <a:r>
              <a:rPr lang="en-US" sz="8572" b="true">
                <a:solidFill>
                  <a:srgbClr val="36E9FD"/>
                </a:solidFill>
                <a:latin typeface="Montserrat Heavy"/>
                <a:ea typeface="Montserrat Heavy"/>
                <a:cs typeface="Montserrat Heavy"/>
                <a:sym typeface="Montserrat Heavy"/>
              </a:rPr>
              <a:t>Thank You!</a:t>
            </a:r>
          </a:p>
        </p:txBody>
      </p:sp>
      <p:sp>
        <p:nvSpPr>
          <p:cNvPr name="TextBox 4" id="4"/>
          <p:cNvSpPr txBox="true"/>
          <p:nvPr/>
        </p:nvSpPr>
        <p:spPr>
          <a:xfrm rot="0">
            <a:off x="4925540" y="5607374"/>
            <a:ext cx="8436920" cy="418259"/>
          </a:xfrm>
          <a:prstGeom prst="rect">
            <a:avLst/>
          </a:prstGeom>
        </p:spPr>
        <p:txBody>
          <a:bodyPr anchor="t" rtlCol="false" tIns="0" lIns="0" bIns="0" rIns="0">
            <a:spAutoFit/>
          </a:bodyPr>
          <a:lstStyle/>
          <a:p>
            <a:pPr algn="ctr">
              <a:lnSpc>
                <a:spcPts val="3319"/>
              </a:lnSpc>
            </a:pPr>
            <a:r>
              <a:rPr lang="en-US" sz="2573" i="true">
                <a:solidFill>
                  <a:srgbClr val="FFFFFF"/>
                </a:solidFill>
                <a:latin typeface="Raleway Italics"/>
                <a:ea typeface="Raleway Italics"/>
                <a:cs typeface="Raleway Italics"/>
                <a:sym typeface="Raleway Italics"/>
              </a:rPr>
              <a:t>Thank you for exploring the world of AI with us.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DAGmWu-TRRc</dc:identifier>
  <dcterms:modified xsi:type="dcterms:W3CDTF">2011-08-01T06:04:30Z</dcterms:modified>
  <cp:revision>1</cp:revision>
  <dc:title>Machine Learning project 2025 - Brain Tumor Classification</dc:title>
</cp:coreProperties>
</file>