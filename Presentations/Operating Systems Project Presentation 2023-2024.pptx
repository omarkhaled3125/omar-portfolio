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T Commons Pro Expanded" charset="1" panose="020B0103030102020204"/>
      <p:regular r:id="rId10"/>
    </p:embeddedFont>
    <p:embeddedFont>
      <p:font typeface="TT Commons Pro Expanded Bold" charset="1" panose="020B0103030102020204"/>
      <p:regular r:id="rId11"/>
    </p:embeddedFont>
    <p:embeddedFont>
      <p:font typeface="TT Commons Pro Expanded Italics" charset="1" panose="020B0103030102020204"/>
      <p:regular r:id="rId12"/>
    </p:embeddedFont>
    <p:embeddedFont>
      <p:font typeface="TT Commons Pro Expanded Bold Italics" charset="1" panose="020B0103030102020204"/>
      <p:regular r:id="rId13"/>
    </p:embeddedFont>
    <p:embeddedFont>
      <p:font typeface="Saira Condensed" charset="1" panose="00000506000000000000"/>
      <p:regular r:id="rId14"/>
    </p:embeddedFont>
    <p:embeddedFont>
      <p:font typeface="Saira Condensed Bold" charset="1" panose="00000806000000000000"/>
      <p:regular r:id="rId15"/>
    </p:embeddedFont>
    <p:embeddedFont>
      <p:font typeface="Saira Condensed Thin" charset="1" panose="00000306000000000000"/>
      <p:regular r:id="rId16"/>
    </p:embeddedFont>
    <p:embeddedFont>
      <p:font typeface="Saira Condensed Medium" charset="1" panose="00000606000000000000"/>
      <p:regular r:id="rId17"/>
    </p:embeddedFont>
    <p:embeddedFont>
      <p:font typeface="Saira Condensed Ultra-Bold" charset="1" panose="00000906000000000000"/>
      <p:regular r:id="rId18"/>
    </p:embeddedFont>
    <p:embeddedFont>
      <p:font typeface="Saira Condensed Heavy" charset="1" panose="00000A06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slides/slide1.xml" Type="http://schemas.openxmlformats.org/officeDocument/2006/relationships/slide"/><Relationship Id="rId21" Target="slides/slide2.xml" Type="http://schemas.openxmlformats.org/officeDocument/2006/relationships/slide"/><Relationship Id="rId22" Target="slides/slide3.xml" Type="http://schemas.openxmlformats.org/officeDocument/2006/relationships/slide"/><Relationship Id="rId23" Target="slides/slide4.xml" Type="http://schemas.openxmlformats.org/officeDocument/2006/relationships/slide"/><Relationship Id="rId24" Target="slides/slide5.xml" Type="http://schemas.openxmlformats.org/officeDocument/2006/relationships/slide"/><Relationship Id="rId25" Target="slides/slide6.xml" Type="http://schemas.openxmlformats.org/officeDocument/2006/relationships/slide"/><Relationship Id="rId26" Target="slides/slide7.xml" Type="http://schemas.openxmlformats.org/officeDocument/2006/relationships/slide"/><Relationship Id="rId27" Target="slides/slide8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1605" y="3771900"/>
            <a:ext cx="1428479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9"/>
              </a:lnSpc>
            </a:pPr>
            <a:r>
              <a:rPr lang="en-US" sz="9999">
                <a:solidFill>
                  <a:srgbClr val="FFFFFF"/>
                </a:solidFill>
                <a:latin typeface="Saira Condensed"/>
              </a:rPr>
              <a:t>CPU SCHEDULING ALGORITHMS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8008" y="617220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29848" y="6238875"/>
            <a:ext cx="10828304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999">
                <a:solidFill>
                  <a:srgbClr val="FFFFFF"/>
                </a:solidFill>
                <a:latin typeface="TT Commons Pro Expanded"/>
              </a:rPr>
              <a:t>Operating Systems Project</a:t>
            </a:r>
          </a:p>
          <a:p>
            <a:pPr algn="ctr">
              <a:lnSpc>
                <a:spcPts val="4079"/>
              </a:lnSpc>
            </a:pPr>
            <a:r>
              <a:rPr lang="en-US" sz="3999">
                <a:solidFill>
                  <a:srgbClr val="FFFFFF"/>
                </a:solidFill>
                <a:latin typeface="TT Commons Pro Expanded"/>
              </a:rPr>
              <a:t>Fall Semester 2023 - 2024 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3967460" y="-428625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4114800"/>
                </a:moveTo>
                <a:lnTo>
                  <a:pt x="3291840" y="4114800"/>
                </a:lnTo>
                <a:lnTo>
                  <a:pt x="32918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7757289"/>
            <a:ext cx="649224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9848" y="1275563"/>
            <a:ext cx="10828304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FFFFFF"/>
                </a:solidFill>
                <a:latin typeface="Saira Condensed Medium"/>
              </a:rPr>
              <a:t>Team Members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5260076" y="2462378"/>
            <a:ext cx="776784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318791" y="3477414"/>
            <a:ext cx="16698546" cy="537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55659" indent="-377829" lvl="1">
              <a:lnSpc>
                <a:spcPts val="8750"/>
              </a:lnSpc>
              <a:buFont typeface="Arial"/>
              <a:buChar char="•"/>
            </a:pPr>
            <a:r>
              <a:rPr lang="en-US" sz="3500" spc="70">
                <a:solidFill>
                  <a:srgbClr val="FFFFFF"/>
                </a:solidFill>
                <a:latin typeface="TT Commons Pro Expanded"/>
              </a:rPr>
              <a:t>Omar Khaled Mohamed Sobaih ( 21-02159 )</a:t>
            </a:r>
          </a:p>
          <a:p>
            <a:pPr marL="755659" indent="-377829" lvl="1">
              <a:lnSpc>
                <a:spcPts val="8750"/>
              </a:lnSpc>
              <a:buFont typeface="Arial"/>
              <a:buChar char="•"/>
            </a:pPr>
            <a:r>
              <a:rPr lang="en-US" sz="3500" spc="70">
                <a:solidFill>
                  <a:srgbClr val="FFFFFF"/>
                </a:solidFill>
                <a:latin typeface="TT Commons Pro Expanded"/>
              </a:rPr>
              <a:t>Zead Osama Thabet ( 21-01769 )</a:t>
            </a:r>
          </a:p>
          <a:p>
            <a:pPr marL="755659" indent="-377829" lvl="1">
              <a:lnSpc>
                <a:spcPts val="8750"/>
              </a:lnSpc>
              <a:buFont typeface="Arial"/>
              <a:buChar char="•"/>
            </a:pPr>
            <a:r>
              <a:rPr lang="en-US" sz="3500" spc="70">
                <a:solidFill>
                  <a:srgbClr val="FFFFFF"/>
                </a:solidFill>
                <a:latin typeface="TT Commons Pro Expanded"/>
              </a:rPr>
              <a:t>Fawzy Ayman El-Sayed Salem ( 21-00710 )</a:t>
            </a:r>
          </a:p>
          <a:p>
            <a:pPr marL="755659" indent="-377829" lvl="1">
              <a:lnSpc>
                <a:spcPts val="8750"/>
              </a:lnSpc>
              <a:buFont typeface="Arial"/>
              <a:buChar char="•"/>
            </a:pPr>
            <a:r>
              <a:rPr lang="en-US" sz="3500" spc="70">
                <a:solidFill>
                  <a:srgbClr val="FFFFFF"/>
                </a:solidFill>
                <a:latin typeface="TT Commons Pro Expanded"/>
              </a:rPr>
              <a:t>Youssef Medhat Shawky ( 21-01732 )</a:t>
            </a:r>
          </a:p>
          <a:p>
            <a:pPr marL="755659" indent="-377829" lvl="1">
              <a:lnSpc>
                <a:spcPts val="8750"/>
              </a:lnSpc>
              <a:buFont typeface="Arial"/>
              <a:buChar char="•"/>
            </a:pPr>
            <a:r>
              <a:rPr lang="en-US" sz="3500" spc="70">
                <a:solidFill>
                  <a:srgbClr val="FFFFFF"/>
                </a:solidFill>
                <a:latin typeface="TT Commons Pro Expanded"/>
              </a:rPr>
              <a:t>Youssef Mohamed Youssef Emam ( 21-01750 )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4633625" y="0"/>
            <a:ext cx="2625675" cy="3282094"/>
          </a:xfrm>
          <a:custGeom>
            <a:avLst/>
            <a:gdLst/>
            <a:ahLst/>
            <a:cxnLst/>
            <a:rect r="r" b="b" t="t" l="l"/>
            <a:pathLst>
              <a:path h="3282094" w="2625675">
                <a:moveTo>
                  <a:pt x="0" y="3282094"/>
                </a:moveTo>
                <a:lnTo>
                  <a:pt x="2625675" y="3282094"/>
                </a:lnTo>
                <a:lnTo>
                  <a:pt x="2625675" y="0"/>
                </a:lnTo>
                <a:lnTo>
                  <a:pt x="0" y="0"/>
                </a:lnTo>
                <a:lnTo>
                  <a:pt x="0" y="32820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104173" y="40767"/>
            <a:ext cx="2625675" cy="3282094"/>
          </a:xfrm>
          <a:custGeom>
            <a:avLst/>
            <a:gdLst/>
            <a:ahLst/>
            <a:cxnLst/>
            <a:rect r="r" b="b" t="t" l="l"/>
            <a:pathLst>
              <a:path h="3282094" w="2625675">
                <a:moveTo>
                  <a:pt x="2625675" y="3282095"/>
                </a:moveTo>
                <a:lnTo>
                  <a:pt x="0" y="3282095"/>
                </a:lnTo>
                <a:lnTo>
                  <a:pt x="0" y="0"/>
                </a:lnTo>
                <a:lnTo>
                  <a:pt x="2625675" y="0"/>
                </a:lnTo>
                <a:lnTo>
                  <a:pt x="2625675" y="32820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090" y="1104900"/>
            <a:ext cx="8838490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8000">
                <a:solidFill>
                  <a:srgbClr val="FFFFFF"/>
                </a:solidFill>
                <a:latin typeface="Saira Condensed Medium"/>
              </a:rPr>
              <a:t>CPU Scheduling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35604"/>
            <a:ext cx="12459418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CPU Scheduling is a fundamental task performed by the operating system that decides the order and manner in which processes should be executed</a:t>
            </a: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. </a:t>
            </a:r>
          </a:p>
          <a:p>
            <a:pPr>
              <a:lnSpc>
                <a:spcPts val="3600"/>
              </a:lnSpc>
            </a:pPr>
          </a:p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The main goal of CPU scheduling is to make the system more efficient, faster, and fairer. </a:t>
            </a:r>
          </a:p>
          <a:p>
            <a:pPr>
              <a:lnSpc>
                <a:spcPts val="3600"/>
              </a:lnSpc>
            </a:pPr>
          </a:p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It aims to maximize CPU utilization and throughput, and minimize waiting time and turnaround time.</a:t>
            </a:r>
          </a:p>
        </p:txBody>
      </p:sp>
      <p:sp>
        <p:nvSpPr>
          <p:cNvPr name="AutoShape 5" id="5"/>
          <p:cNvSpPr/>
          <p:nvPr/>
        </p:nvSpPr>
        <p:spPr>
          <a:xfrm>
            <a:off x="-1274448" y="2644257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863805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090" y="1104900"/>
            <a:ext cx="8838490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80"/>
              </a:lnSpc>
            </a:pPr>
            <a:r>
              <a:rPr lang="en-US" sz="8000">
                <a:solidFill>
                  <a:srgbClr val="FFFFFF"/>
                </a:solidFill>
                <a:latin typeface="Saira Condensed Medium"/>
              </a:rPr>
              <a:t>CPU Scheduling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45513"/>
            <a:ext cx="12459418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There are two types of CPU scheduling: Preemptive and Non-preemptive</a:t>
            </a: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. </a:t>
            </a:r>
          </a:p>
          <a:p>
            <a:pPr>
              <a:lnSpc>
                <a:spcPts val="3600"/>
              </a:lnSpc>
            </a:pPr>
          </a:p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In preemptive scheduling, the currently executing process can be interrupted and moved to the ready queue if a higher priority process arrives. </a:t>
            </a:r>
          </a:p>
          <a:p>
            <a:pPr>
              <a:lnSpc>
                <a:spcPts val="3600"/>
              </a:lnSpc>
            </a:pPr>
          </a:p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In non-preemptive scheduling, once a process starts its execution, it runs to completion and cannot be interrupted.</a:t>
            </a:r>
          </a:p>
        </p:txBody>
      </p:sp>
      <p:sp>
        <p:nvSpPr>
          <p:cNvPr name="AutoShape 5" id="5"/>
          <p:cNvSpPr/>
          <p:nvPr/>
        </p:nvSpPr>
        <p:spPr>
          <a:xfrm>
            <a:off x="-1274448" y="2644257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863805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090" y="632459"/>
            <a:ext cx="8838490" cy="8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Saira Condensed Medium"/>
              </a:rPr>
              <a:t>Scheduling Algorithms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3090" y="2787553"/>
            <a:ext cx="16937880" cy="629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Various algorithms are used for CPU scheduling, including:</a:t>
            </a:r>
          </a:p>
          <a:p>
            <a:pPr>
              <a:lnSpc>
                <a:spcPts val="3600"/>
              </a:lnSpc>
            </a:pPr>
          </a:p>
          <a:p>
            <a:pPr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First Come First Serve</a:t>
            </a:r>
            <a:r>
              <a:rPr lang="en-US" sz="3000">
                <a:solidFill>
                  <a:srgbClr val="FFFFFF"/>
                </a:solidFill>
                <a:latin typeface="TT Commons Pro Expanded"/>
              </a:rPr>
              <a:t> (FCFS):</a:t>
            </a:r>
            <a:r>
              <a:rPr lang="en-US" sz="3000">
                <a:solidFill>
                  <a:srgbClr val="FFFFFF"/>
                </a:solidFill>
                <a:latin typeface="TT Commons Pro Expanded"/>
              </a:rPr>
              <a:t> Processes are scheduled in the order they arrive.</a:t>
            </a:r>
          </a:p>
          <a:p>
            <a:pPr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Shortest Job First (SJF): The process with the shortest burst time is scheduled next.</a:t>
            </a:r>
          </a:p>
          <a:p>
            <a:pPr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Priority Scheduling: Each process is assigned a priority, and the process with the highest priority (lowest priority number) is scheduled next.</a:t>
            </a:r>
          </a:p>
          <a:p>
            <a:pPr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Rou</a:t>
            </a:r>
            <a:r>
              <a:rPr lang="en-US" sz="3000">
                <a:solidFill>
                  <a:srgbClr val="FFFFFF"/>
                </a:solidFill>
                <a:latin typeface="TT Commons Pro Expanded"/>
              </a:rPr>
              <a:t>nd Robin (RR): Each process is assigned a fixed time slot or quantum. If a process does not complete within the quantum, it is preempted and moved to the back of the queue.</a:t>
            </a:r>
          </a:p>
          <a:p>
            <a:pPr>
              <a:lnSpc>
                <a:spcPts val="3600"/>
              </a:lnSpc>
            </a:pPr>
          </a:p>
          <a:p>
            <a:pPr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Each scheduling algorithm has its own advantages and disadvantages, and the choice of algorithm depends on the specific requirements of the system</a:t>
            </a:r>
          </a:p>
        </p:txBody>
      </p:sp>
      <p:sp>
        <p:nvSpPr>
          <p:cNvPr name="AutoShape 5" id="5"/>
          <p:cNvSpPr/>
          <p:nvPr/>
        </p:nvSpPr>
        <p:spPr>
          <a:xfrm>
            <a:off x="-1319077" y="1930187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14692078" y="0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3209028"/>
                </a:moveTo>
                <a:lnTo>
                  <a:pt x="0" y="3209028"/>
                </a:lnTo>
                <a:lnTo>
                  <a:pt x="0" y="0"/>
                </a:lnTo>
                <a:lnTo>
                  <a:pt x="2567222" y="0"/>
                </a:lnTo>
                <a:lnTo>
                  <a:pt x="2567222" y="32090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090" y="632459"/>
            <a:ext cx="8838490" cy="8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Saira Condensed Medium"/>
              </a:rPr>
              <a:t>Code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77695"/>
            <a:ext cx="18611481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3000">
                <a:solidFill>
                  <a:srgbClr val="FFFFFF"/>
                </a:solidFill>
                <a:latin typeface="TT Commons Pro Expanded Bold"/>
              </a:rPr>
              <a:t>Algorithms used in our code are as follows :</a:t>
            </a:r>
          </a:p>
          <a:p>
            <a:pPr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First Come First Served (FCFS)</a:t>
            </a:r>
          </a:p>
          <a:p>
            <a:pPr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Non-Preemptive Shortest Job First (SJF)</a:t>
            </a:r>
          </a:p>
          <a:p>
            <a:pPr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Round Robin (RR)</a:t>
            </a:r>
          </a:p>
          <a:p>
            <a:pPr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Priority Non-Preemptive </a:t>
            </a:r>
          </a:p>
          <a:p>
            <a:pPr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T Commons Pro Expanded"/>
              </a:rPr>
              <a:t>Priority Preemptive</a:t>
            </a:r>
          </a:p>
        </p:txBody>
      </p:sp>
      <p:sp>
        <p:nvSpPr>
          <p:cNvPr name="AutoShape 5" id="5"/>
          <p:cNvSpPr/>
          <p:nvPr/>
        </p:nvSpPr>
        <p:spPr>
          <a:xfrm>
            <a:off x="-1319077" y="1930187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true" rot="5400000">
            <a:off x="15399875" y="3538986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3209028"/>
                </a:moveTo>
                <a:lnTo>
                  <a:pt x="0" y="3209028"/>
                </a:lnTo>
                <a:lnTo>
                  <a:pt x="0" y="0"/>
                </a:lnTo>
                <a:lnTo>
                  <a:pt x="2567222" y="0"/>
                </a:lnTo>
                <a:lnTo>
                  <a:pt x="2567222" y="32090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090" y="632459"/>
            <a:ext cx="8838490" cy="8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Saira Condensed Medium"/>
              </a:rPr>
              <a:t>Code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3090" y="2961640"/>
            <a:ext cx="18611481" cy="415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we declare a class Process.</a:t>
            </a:r>
          </a:p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initialize the Process fields with the provided arguments.</a:t>
            </a:r>
          </a:p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Ask the user to enter the details for each process, using Scanner object.</a:t>
            </a:r>
          </a:p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declare and initialize five lists of Process objects, one for each scheduling algorithm.</a:t>
            </a:r>
          </a:p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execute the five algorithms.</a:t>
            </a:r>
          </a:p>
          <a:p>
            <a:pPr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T Commons Pro Expanded Bold"/>
              </a:rPr>
              <a:t>print the average times for each one.</a:t>
            </a:r>
          </a:p>
        </p:txBody>
      </p:sp>
      <p:sp>
        <p:nvSpPr>
          <p:cNvPr name="AutoShape 5" id="5"/>
          <p:cNvSpPr/>
          <p:nvPr/>
        </p:nvSpPr>
        <p:spPr>
          <a:xfrm>
            <a:off x="-1319077" y="1930187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14692078" y="0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3209028"/>
                </a:moveTo>
                <a:lnTo>
                  <a:pt x="0" y="3209028"/>
                </a:lnTo>
                <a:lnTo>
                  <a:pt x="0" y="0"/>
                </a:lnTo>
                <a:lnTo>
                  <a:pt x="2567222" y="0"/>
                </a:lnTo>
                <a:lnTo>
                  <a:pt x="2567222" y="32090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9848" y="3854768"/>
            <a:ext cx="1082830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9"/>
              </a:lnSpc>
            </a:pPr>
            <a:r>
              <a:rPr lang="en-US" sz="9999">
                <a:solidFill>
                  <a:srgbClr val="FFFFFF"/>
                </a:solidFill>
                <a:latin typeface="Saira Condensed Medium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584680" y="246888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411480" y="246888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4114800"/>
                </a:moveTo>
                <a:lnTo>
                  <a:pt x="3291840" y="4114800"/>
                </a:lnTo>
                <a:lnTo>
                  <a:pt x="32918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8289" y="7375004"/>
            <a:ext cx="2094719" cy="2194848"/>
          </a:xfrm>
          <a:custGeom>
            <a:avLst/>
            <a:gdLst/>
            <a:ahLst/>
            <a:cxnLst/>
            <a:rect r="r" b="b" t="t" l="l"/>
            <a:pathLst>
              <a:path h="2194848" w="2094719">
                <a:moveTo>
                  <a:pt x="0" y="0"/>
                </a:moveTo>
                <a:lnTo>
                  <a:pt x="2094719" y="0"/>
                </a:lnTo>
                <a:lnTo>
                  <a:pt x="2094719" y="2194848"/>
                </a:lnTo>
                <a:lnTo>
                  <a:pt x="0" y="219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38" t="0" r="0" b="-24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1449" y="9353080"/>
            <a:ext cx="3508399" cy="4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</a:pPr>
            <a:r>
              <a:rPr lang="en-US" sz="3240">
                <a:solidFill>
                  <a:srgbClr val="FFFFFF"/>
                </a:solidFill>
                <a:latin typeface="Saira Condensed Medium"/>
              </a:rPr>
              <a:t>Free_Palastine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DAF3vBOwEac</dc:identifier>
  <dcterms:modified xsi:type="dcterms:W3CDTF">2011-08-01T06:04:30Z</dcterms:modified>
  <cp:revision>1</cp:revision>
  <dc:title>Operating Systems Project Presentation 2023-2024</dc:title>
</cp:coreProperties>
</file>